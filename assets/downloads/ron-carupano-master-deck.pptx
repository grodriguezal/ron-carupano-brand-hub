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651da0329d46f5" /><Relationship Type="http://schemas.openxmlformats.org/officeDocument/2006/relationships/extended-properties" Target="/docProps/app.xml" Id="R56f96e6d8a6b4d11" /><Relationship Type="http://schemas.openxmlformats.org/officeDocument/2006/relationships/officeDocument" Target="/ppt/presentation.xml" Id="R28cc3de7b9f043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db9f55a5fc4ece"/>
  </p:sldMasterIdLst>
  <p:notesMasterIdLst>
    <p:notesMasterId xmlns:r="http://schemas.openxmlformats.org/officeDocument/2006/relationships" r:id="Rcf2b239b4296415a"/>
  </p:notesMasterIdLst>
  <p:sldIdLst>
    <p:sldId xmlns:r="http://schemas.openxmlformats.org/officeDocument/2006/relationships" id="256" r:id="R647a1ebbbda04bd4"/>
    <p:sldId xmlns:r="http://schemas.openxmlformats.org/officeDocument/2006/relationships" id="257" r:id="Rfc34c409e35847aa"/>
    <p:sldId xmlns:r="http://schemas.openxmlformats.org/officeDocument/2006/relationships" id="258" r:id="Ra6766d29173e40a6"/>
    <p:sldId xmlns:r="http://schemas.openxmlformats.org/officeDocument/2006/relationships" id="259" r:id="R905f55c04bb8467d"/>
    <p:sldId xmlns:r="http://schemas.openxmlformats.org/officeDocument/2006/relationships" id="260" r:id="R99568bbe9ba24b4f"/>
    <p:sldId xmlns:r="http://schemas.openxmlformats.org/officeDocument/2006/relationships" id="261" r:id="Rb11b07ae11e14726"/>
    <p:sldId xmlns:r="http://schemas.openxmlformats.org/officeDocument/2006/relationships" id="262" r:id="Rb5674415da2142cb"/>
    <p:sldId xmlns:r="http://schemas.openxmlformats.org/officeDocument/2006/relationships" id="263" r:id="Rf3d3afafea7147e3"/>
    <p:sldId xmlns:r="http://schemas.openxmlformats.org/officeDocument/2006/relationships" id="264" r:id="Rf503d9dedb02412b"/>
    <p:sldId xmlns:r="http://schemas.openxmlformats.org/officeDocument/2006/relationships" id="265" r:id="Ra65d0843ae08401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ffa89282c04b88" /><Relationship Type="http://schemas.openxmlformats.org/officeDocument/2006/relationships/slideMaster" Target="/ppt/slideMasters/slideMaster1.xml" Id="Re2db9f55a5fc4ece" /><Relationship Type="http://schemas.openxmlformats.org/officeDocument/2006/relationships/notesMaster" Target="/ppt/notesMasters/notesMaster1.xml" Id="Rcf2b239b4296415a" /><Relationship Type="http://schemas.openxmlformats.org/officeDocument/2006/relationships/presProps" Target="/ppt/presProps.xml" Id="R756a9d4ecff4413c" /><Relationship Type="http://schemas.openxmlformats.org/officeDocument/2006/relationships/tableStyles" Target="/ppt/tableStyles.xml" Id="R3fdbfa8ca8d34b9d" /><Relationship Type="http://schemas.openxmlformats.org/officeDocument/2006/relationships/slide" Target="/ppt/slides/slide1.xml" Id="R647a1ebbbda04bd4" /><Relationship Type="http://schemas.openxmlformats.org/officeDocument/2006/relationships/slide" Target="/ppt/slides/slide2.xml" Id="Rfc34c409e35847aa" /><Relationship Type="http://schemas.openxmlformats.org/officeDocument/2006/relationships/slide" Target="/ppt/slides/slide3.xml" Id="Ra6766d29173e40a6" /><Relationship Type="http://schemas.openxmlformats.org/officeDocument/2006/relationships/slide" Target="/ppt/slides/slide4.xml" Id="R905f55c04bb8467d" /><Relationship Type="http://schemas.openxmlformats.org/officeDocument/2006/relationships/slide" Target="/ppt/slides/slide5.xml" Id="R99568bbe9ba24b4f" /><Relationship Type="http://schemas.openxmlformats.org/officeDocument/2006/relationships/slide" Target="/ppt/slides/slide6.xml" Id="Rb11b07ae11e14726" /><Relationship Type="http://schemas.openxmlformats.org/officeDocument/2006/relationships/slide" Target="/ppt/slides/slide7.xml" Id="Rb5674415da2142cb" /><Relationship Type="http://schemas.openxmlformats.org/officeDocument/2006/relationships/slide" Target="/ppt/slides/slide8.xml" Id="Rf3d3afafea7147e3" /><Relationship Type="http://schemas.openxmlformats.org/officeDocument/2006/relationships/slide" Target="/ppt/slides/slide9.xml" Id="Rf503d9dedb02412b" /><Relationship Type="http://schemas.openxmlformats.org/officeDocument/2006/relationships/slide" Target="/ppt/slides/slide10.xml" Id="Ra65d0843ae0840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a1a5a518534d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1c68b63c9a4d85" /><Relationship Type="http://schemas.openxmlformats.org/officeDocument/2006/relationships/notesMaster" Target="/ppt/notesMasters/notesMaster1.xml" Id="R9bf164e43f0148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07bf798ae64a09" /><Relationship Type="http://schemas.openxmlformats.org/officeDocument/2006/relationships/notesMaster" Target="/ppt/notesMasters/notesMaster1.xml" Id="R0773c1fc5d6e44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008c683e7e40a3" /><Relationship Type="http://schemas.openxmlformats.org/officeDocument/2006/relationships/notesMaster" Target="/ppt/notesMasters/notesMaster1.xml" Id="Rf7309c50d01b47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b6267155c74d7b" /><Relationship Type="http://schemas.openxmlformats.org/officeDocument/2006/relationships/notesMaster" Target="/ppt/notesMasters/notesMaster1.xml" Id="R0b4d04913aa04d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59cd5780bc4cac" /><Relationship Type="http://schemas.openxmlformats.org/officeDocument/2006/relationships/notesMaster" Target="/ppt/notesMasters/notesMaster1.xml" Id="Rc9670e78a21142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c9695c31f84d30" /><Relationship Type="http://schemas.openxmlformats.org/officeDocument/2006/relationships/notesMaster" Target="/ppt/notesMasters/notesMaster1.xml" Id="R74e09c3090e447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2f14d8d6224cb6" /><Relationship Type="http://schemas.openxmlformats.org/officeDocument/2006/relationships/notesMaster" Target="/ppt/notesMasters/notesMaster1.xml" Id="R0903da9cb07145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50d1b30fc140f5" /><Relationship Type="http://schemas.openxmlformats.org/officeDocument/2006/relationships/notesMaster" Target="/ppt/notesMasters/notesMaster1.xml" Id="R535a12417ba74d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143cf4a23c4221" /><Relationship Type="http://schemas.openxmlformats.org/officeDocument/2006/relationships/notesMaster" Target="/ppt/notesMasters/notesMaster1.xml" Id="Rd0f34bb270a84c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08093d37904f97" /><Relationship Type="http://schemas.openxmlformats.org/officeDocument/2006/relationships/notesMaster" Target="/ppt/notesMasters/notesMaster1.xml" Id="R25f7a118f6b94a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ff8d18ad6943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8829957e974bff" /><Relationship Type="http://schemas.openxmlformats.org/officeDocument/2006/relationships/slideLayout" Target="/ppt/slideLayouts/slideLayout1.xml" Id="R881198d4f34344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1198d4f34344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84520154a4fff" /><Relationship Type="http://schemas.openxmlformats.org/officeDocument/2006/relationships/image" Target="/ppt/media/image.jpeg" Id="R471c74d910ac4c69" /><Relationship Type="http://schemas.openxmlformats.org/officeDocument/2006/relationships/notesSlide" Target="/ppt/notesSlides/notesSlide1.xml" Id="R09ed5565f69a4c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c20b803314a65" /><Relationship Type="http://schemas.openxmlformats.org/officeDocument/2006/relationships/notesSlide" Target="/ppt/notesSlides/notesSlide2.xml" Id="R9f219459fb9442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bbe6af41941ed" /><Relationship Type="http://schemas.openxmlformats.org/officeDocument/2006/relationships/notesSlide" Target="/ppt/notesSlides/notesSlide3.xml" Id="R66423336016d4c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7aaabbe824189" /><Relationship Type="http://schemas.openxmlformats.org/officeDocument/2006/relationships/image" Target="/ppt/media/image2.jpeg" Id="R339df738c4fb4c85" /><Relationship Type="http://schemas.openxmlformats.org/officeDocument/2006/relationships/notesSlide" Target="/ppt/notesSlides/notesSlide4.xml" Id="R3b50bed85aaa48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2d418a4ac4d7d" /><Relationship Type="http://schemas.openxmlformats.org/officeDocument/2006/relationships/image" Target="/ppt/media/image3.jpeg" Id="R507682b52a0a4c93" /><Relationship Type="http://schemas.openxmlformats.org/officeDocument/2006/relationships/notesSlide" Target="/ppt/notesSlides/notesSlide5.xml" Id="R517785a292544f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7fc806de742fb" /><Relationship Type="http://schemas.openxmlformats.org/officeDocument/2006/relationships/image" Target="/ppt/media/image4.jpeg" Id="Ra3a94c087c7a47bd" /><Relationship Type="http://schemas.openxmlformats.org/officeDocument/2006/relationships/notesSlide" Target="/ppt/notesSlides/notesSlide6.xml" Id="R4e7ca9f4048149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913b5aa3b4517" /><Relationship Type="http://schemas.openxmlformats.org/officeDocument/2006/relationships/notesSlide" Target="/ppt/notesSlides/notesSlide7.xml" Id="Rab2fc5a9639740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3806870384ce5" /><Relationship Type="http://schemas.openxmlformats.org/officeDocument/2006/relationships/notesSlide" Target="/ppt/notesSlides/notesSlide8.xml" Id="R4b84ec4589fb4f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2199f7e1949d4" /><Relationship Type="http://schemas.openxmlformats.org/officeDocument/2006/relationships/notesSlide" Target="/ppt/notesSlides/notesSlide9.xml" Id="R9bf874cb5f3044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adf0c228c481d" /><Relationship Type="http://schemas.openxmlformats.org/officeDocument/2006/relationships/image" Target="/ppt/media/image.bin" Id="Rafdaedeb1bd1426d" /><Relationship Type="http://schemas.openxmlformats.org/officeDocument/2006/relationships/notesSlide" Target="/ppt/notesSlides/notesSlide10.xml" Id="R07e5be2f10ac42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ld-rule">
            <a:extLst xmlns:a="http://schemas.openxmlformats.org/drawingml/2006/main">
              <a:ext uri="{FF2B5EF4-FFF2-40B4-BE49-F238E27FC236}">
                <a16:creationId xmlns:a16="http://schemas.microsoft.com/office/drawing/2014/main" id="{60257714-48E6-4AB6-8DF8-BC0B9063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5559DBD-4C34-4378-A95D-A1FBD37F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5B879"/>
                </a:solidFill>
              </a:defRPr>
            </a:pPr>
            <a:r>
              <a:rPr sz="1200" b="1" i="0">
                <a:solidFill>
                  <a:srgbClr val="D5B879"/>
                </a:solidFill>
              </a:rPr>
              <a:t>MASTER DECK EDITABLE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54511A-4E41-4D20-8961-F3DCD807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572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3EEE6"/>
                </a:solidFill>
              </a:defRPr>
            </a:pPr>
            <a:r>
              <a:rPr sz="4350" b="1" i="0">
                <a:solidFill>
                  <a:srgbClr val="F3EEE6"/>
                </a:solidFill>
              </a:rPr>
              <a:t>El Caribe transforma</a:t>
            </a:r>
          </a:p>
          <a:p xmlns:a="http://schemas.openxmlformats.org/drawingml/2006/main">
            <a:pPr algn="l">
              <a:defRPr sz="4350" b="1" i="0">
                <a:solidFill>
                  <a:srgbClr val="F3EEE6"/>
                </a:solidFill>
              </a:defRPr>
            </a:pPr>
            <a:r>
              <a:rPr sz="4350" b="1" i="0">
                <a:solidFill>
                  <a:srgbClr val="F3EEE6"/>
                </a:solidFill>
              </a:rPr>
              <a:t>el tiempo.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8639A0C-584A-42E3-BE10-05834A0F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>
                    <a:alpha val="65882"/>
                  </a:srgbClr>
                </a:solidFill>
              </a:defRPr>
            </a:pPr>
            <a:r>
              <a:rPr sz="1500" b="0" i="0">
                <a:solidFill>
                  <a:srgbClr val="FFFFFF">
                    <a:alpha val="65882"/>
                  </a:srgbClr>
                </a:solidFill>
              </a:rPr>
              <a:t>Sistema de presentación corporativa · Ron Carúpano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c74d910ac4c69"/>
          <a:stretch xmlns:a="http://schemas.openxmlformats.org/drawingml/2006/main"/>
        </p:blipFill>
        <p:spPr>
          <a:xfrm xmlns:a="http://schemas.openxmlformats.org/drawingml/2006/main">
            <a:off x="8048625" y="1614143"/>
            <a:ext cx="2952750" cy="3782113"/>
          </a:xfrm>
          <a:prstGeom xmlns:a="http://schemas.openxmlformats.org/drawingml/2006/main" prst="rect">
            <a:avLst/>
          </a:prstGeom>
        </p:spPr>
      </p:pic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670FD672-0462-4EDF-A314-7D518CD5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FFFFF">
                    <a:alpha val="45882"/>
                  </a:srgbClr>
                </a:solidFill>
              </a:defRPr>
            </a:pPr>
            <a:r>
              <a:rPr sz="975" b="0" i="0">
                <a:solidFill>
                  <a:srgbClr val="FFFFFF">
                    <a:alpha val="45882"/>
                  </a:srgbClr>
                </a:solidFill>
              </a:rPr>
              <a:t>Hacienda Altamira · Macarapana, Venezuela</a:t>
            </a:r>
          </a:p>
        </p:txBody>
      </p:sp>
    </p:spTree>
    <p:extLst>
      <p:ext uri="{BB962C8B-B14F-4D97-AF65-F5344CB8AC3E}">
        <p14:creationId xmlns:p14="http://schemas.microsoft.com/office/powerpoint/2010/main" val="271872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A8865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192774BD-BC37-4A8E-A9DE-B8BD819D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90C9D468-EC34-45B6-AD54-346E14A8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706862"/>
                </a:solidFill>
              </a:defRPr>
            </a:pPr>
            <a:r>
              <a:rPr sz="825" b="0" i="0">
                <a:solidFill>
                  <a:srgbClr val="706862"/>
                </a:solidFill>
              </a:rPr>
              <a:t>02</a:t>
            </a:r>
          </a:p>
        </p:txBody>
      </p:sp>
      <p:sp>
        <p:nvSpPr>
          <p:cNvPr id="3" name="number">
            <a:extLst xmlns:a="http://schemas.openxmlformats.org/drawingml/2006/main">
              <a:ext uri="{FF2B5EF4-FFF2-40B4-BE49-F238E27FC236}">
                <a16:creationId xmlns:a16="http://schemas.microsoft.com/office/drawing/2014/main" id="{495BE1D4-74D9-4E2E-9731-DFC9DFFB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619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100C0A"/>
                </a:solidFill>
              </a:defRPr>
            </a:pPr>
            <a:r>
              <a:rPr sz="5700" b="1" i="0">
                <a:solidFill>
                  <a:srgbClr val="100C0A"/>
                </a:solidFill>
              </a:rPr>
              <a:t>01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ED9AC36-8B50-4B32-B46E-3F286DEA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95400"/>
            <a:ext cx="7524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Una historia que</a:t>
            </a:r>
          </a:p>
          <a:p xmlns:a="http://schemas.openxmlformats.org/drawingml/2006/main">
            <a:pPr algn="l">
              <a:defRPr sz="3600" b="1" i="0">
                <a:solidFill>
                  <a:srgbClr val="100C0A"/>
                </a:solidFill>
              </a:defRPr>
            </a:pPr>
            <a:r>
              <a:rPr sz="3600" b="1" i="0">
                <a:solidFill>
                  <a:srgbClr val="100C0A"/>
                </a:solidFill>
              </a:rPr>
              <a:t>sigue avanzando.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EEC6B5C-1A9F-40FB-BE14-327672DB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813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362A24"/>
                </a:solidFill>
              </a:defRPr>
            </a:pPr>
            <a:r>
              <a:rPr sz="1500" b="0" i="0">
                <a:solidFill>
                  <a:srgbClr val="362A24"/>
                </a:solidFill>
              </a:rPr>
              <a:t>Use este formato para abrir capítulos, territorios o momentos clave.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4E3E4F53-08EB-4929-BFA9-FBA6B0C5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6720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18880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F4454B1F-4016-4373-B6EB-AC91B293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7F58FF4C-51A7-4E91-A536-2ACE9FB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706862"/>
                </a:solidFill>
              </a:defRPr>
            </a:pPr>
            <a:r>
              <a:rPr sz="825" b="0" i="0">
                <a:solidFill>
                  <a:srgbClr val="706862"/>
                </a:solidFill>
              </a:rPr>
              <a:t>03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0CF5079-F091-480B-8EA9-083A9D30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8650"/>
                </a:solidFill>
              </a:defRPr>
            </a:pPr>
            <a:r>
              <a:rPr sz="1050" b="1" i="0">
                <a:solidFill>
                  <a:srgbClr val="A88650"/>
                </a:solidFill>
              </a:rPr>
              <a:t>IDEA CENTRAL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2DDF35E-90AE-4C5E-A697-F66BA5E8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00C0A"/>
                </a:solidFill>
              </a:defRPr>
            </a:pPr>
            <a:r>
              <a:rPr sz="3300" b="1" i="0">
                <a:solidFill>
                  <a:srgbClr val="100C0A"/>
                </a:solidFill>
              </a:rPr>
              <a:t>El origen no es contexto:</a:t>
            </a:r>
          </a:p>
          <a:p xmlns:a="http://schemas.openxmlformats.org/drawingml/2006/main">
            <a:pPr algn="l">
              <a:defRPr sz="3300" b="1" i="0">
                <a:solidFill>
                  <a:srgbClr val="100C0A"/>
                </a:solidFill>
              </a:defRPr>
            </a:pPr>
            <a:r>
              <a:rPr sz="3300" b="1" i="0">
                <a:solidFill>
                  <a:srgbClr val="100C0A"/>
                </a:solidFill>
              </a:rPr>
              <a:t>es una ventaja de marca.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BF579AC3-1AF4-4F02-BC26-3567DD42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706862"/>
                </a:solidFill>
              </a:defRPr>
            </a:pPr>
            <a:r>
              <a:rPr sz="1650" b="0" i="0">
                <a:solidFill>
                  <a:srgbClr val="706862"/>
                </a:solidFill>
              </a:rPr>
              <a:t>Desde 1762, Hacienda Altamira convierte clima, madera y maestría en una identidad sensorial propia. Este layout funciona para desarrollar una tesis con claridad y respiración.</a:t>
            </a:r>
          </a:p>
        </p:txBody>
      </p:sp>
      <p:sp>
        <p:nvSpPr>
          <p:cNvPr id="6" name="accent">
            <a:extLst xmlns:a="http://schemas.openxmlformats.org/drawingml/2006/main">
              <a:ext uri="{FF2B5EF4-FFF2-40B4-BE49-F238E27FC236}">
                <a16:creationId xmlns:a16="http://schemas.microsoft.com/office/drawing/2014/main" id="{FED12EC4-4D1E-4DF6-B9E7-C54281AF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123950"/>
            <a:ext cx="2971800" cy="39052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ccent-number">
            <a:extLst xmlns:a="http://schemas.openxmlformats.org/drawingml/2006/main">
              <a:ext uri="{FF2B5EF4-FFF2-40B4-BE49-F238E27FC236}">
                <a16:creationId xmlns:a16="http://schemas.microsoft.com/office/drawing/2014/main" id="{9A642CBB-8EB2-4314-A135-BD9E238A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771650"/>
            <a:ext cx="228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D5B879"/>
                </a:solidFill>
              </a:defRPr>
            </a:pPr>
            <a:r>
              <a:rPr sz="4350" b="1" i="0">
                <a:solidFill>
                  <a:srgbClr val="D5B879"/>
                </a:solidFill>
              </a:rPr>
              <a:t>1762</a:t>
            </a:r>
          </a:p>
        </p:txBody>
      </p:sp>
      <p:sp>
        <p:nvSpPr>
          <p:cNvPr id="8" name="accent-copy">
            <a:extLst xmlns:a="http://schemas.openxmlformats.org/drawingml/2006/main">
              <a:ext uri="{FF2B5EF4-FFF2-40B4-BE49-F238E27FC236}">
                <a16:creationId xmlns:a16="http://schemas.microsoft.com/office/drawing/2014/main" id="{2A70246A-3BD9-4089-B1DD-99B1A81C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3050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F3EEE6"/>
                </a:solidFill>
              </a:defRPr>
            </a:pPr>
            <a:r>
              <a:rPr sz="1650" b="0" i="0">
                <a:solidFill>
                  <a:srgbClr val="F3EEE6"/>
                </a:solidFill>
              </a:rPr>
              <a:t>Un punto de origen</a:t>
            </a:r>
          </a:p>
          <a:p xmlns:a="http://schemas.openxmlformats.org/drawingml/2006/main">
            <a:pPr algn="ctr">
              <a:defRPr sz="1650" b="0" i="0">
                <a:solidFill>
                  <a:srgbClr val="F3EEE6"/>
                </a:solidFill>
              </a:defRPr>
            </a:pPr>
            <a:r>
              <a:rPr sz="1650" b="0" i="0">
                <a:solidFill>
                  <a:srgbClr val="F3EEE6"/>
                </a:solidFill>
              </a:rPr>
              <a:t>que todavía impulsa</a:t>
            </a:r>
          </a:p>
          <a:p xmlns:a="http://schemas.openxmlformats.org/drawingml/2006/main">
            <a:pPr algn="ctr">
              <a:defRPr sz="1650" b="0" i="0">
                <a:solidFill>
                  <a:srgbClr val="F3EEE6"/>
                </a:solidFill>
              </a:defRPr>
            </a:pPr>
            <a:r>
              <a:rPr sz="1650" b="0" i="0">
                <a:solidFill>
                  <a:srgbClr val="F3EEE6"/>
                </a:solidFill>
              </a:rPr>
              <a:t>la conversación.</a:t>
            </a:r>
          </a:p>
        </p:txBody>
      </p:sp>
    </p:spTree>
    <p:extLst>
      <p:ext uri="{BB962C8B-B14F-4D97-AF65-F5344CB8AC3E}">
        <p14:creationId xmlns:p14="http://schemas.microsoft.com/office/powerpoint/2010/main" val="1554978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df738c4fb4c85"/>
          <a:srcRect xmlns:a="http://schemas.openxmlformats.org/drawingml/2006/main" l="0" t="28042" r="0" b="280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crim">
            <a:extLst xmlns:a="http://schemas.openxmlformats.org/drawingml/2006/main">
              <a:ext uri="{FF2B5EF4-FFF2-40B4-BE49-F238E27FC236}">
                <a16:creationId xmlns:a16="http://schemas.microsoft.com/office/drawing/2014/main" id="{7A15D5C1-226A-4996-8E97-E26A6891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C0A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D78042A-94DF-444D-BBC9-659EB129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PRODUCTO / OCASIÓN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2595041-58CE-4F52-8726-2DE353BE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14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3EEE6"/>
                </a:solidFill>
              </a:defRPr>
            </a:pPr>
            <a:r>
              <a:rPr sz="3900" b="1" i="0">
                <a:solidFill>
                  <a:srgbClr val="F3EEE6"/>
                </a:solidFill>
              </a:rPr>
              <a:t>Una copa puede</a:t>
            </a:r>
          </a:p>
          <a:p xmlns:a="http://schemas.openxmlformats.org/drawingml/2006/main">
            <a:pPr algn="l">
              <a:defRPr sz="3900" b="1" i="0">
                <a:solidFill>
                  <a:srgbClr val="F3EEE6"/>
                </a:solidFill>
              </a:defRPr>
            </a:pPr>
            <a:r>
              <a:rPr sz="3900" b="1" i="0">
                <a:solidFill>
                  <a:srgbClr val="F3EEE6"/>
                </a:solidFill>
              </a:rPr>
              <a:t>cambiar el ritmo.</a:t>
            </a:r>
          </a:p>
        </p:txBody>
      </p:sp>
      <p:sp>
        <p:nvSpPr>
          <p:cNvPr id="5" name="caption">
            <a:extLst xmlns:a="http://schemas.openxmlformats.org/drawingml/2006/main">
              <a:ext uri="{FF2B5EF4-FFF2-40B4-BE49-F238E27FC236}">
                <a16:creationId xmlns:a16="http://schemas.microsoft.com/office/drawing/2014/main" id="{270B3B06-80CF-455D-BD8A-D32E60AC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>
                    <a:alpha val="75294"/>
                  </a:srgbClr>
                </a:solidFill>
              </a:defRPr>
            </a:pPr>
            <a:r>
              <a:rPr sz="1350" b="0" i="0">
                <a:solidFill>
                  <a:srgbClr val="FFFFFF">
                    <a:alpha val="75294"/>
                  </a:srgbClr>
                </a:solidFill>
              </a:rPr>
              <a:t>Formato de imagen completa para campañas, experiencias y aperturas emocionales.</a:t>
            </a:r>
          </a:p>
        </p:txBody>
      </p:sp>
    </p:spTree>
    <p:extLst>
      <p:ext uri="{BB962C8B-B14F-4D97-AF65-F5344CB8AC3E}">
        <p14:creationId xmlns:p14="http://schemas.microsoft.com/office/powerpoint/2010/main" val="10319801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E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27DF914C-5838-4A77-AA16-7C1A7657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492955E7-B4F1-4467-B68A-DFFA165E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706862"/>
                </a:solidFill>
              </a:defRPr>
            </a:pPr>
            <a:r>
              <a:rPr sz="825" b="0" i="0">
                <a:solidFill>
                  <a:srgbClr val="706862"/>
                </a:solidFill>
              </a:rPr>
              <a:t>05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682b52a0a4c93"/>
          <a:srcRect xmlns:a="http://schemas.openxmlformats.org/drawingml/2006/main" l="0" t="1886" r="0" b="1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952500"/>
            <a:ext cx="4095750" cy="5048250"/>
          </a:xfrm>
          <a:prstGeom xmlns:a="http://schemas.openxmlformats.org/drawingml/2006/main" prst="rect">
            <a:avLst/>
          </a:prstGeom>
        </p:spPr>
      </p:pic>
      <p:sp>
        <p:nvSpPr>
          <p:cNvPr id="4" name="quote">
            <a:extLst xmlns:a="http://schemas.openxmlformats.org/drawingml/2006/main">
              <a:ext uri="{FF2B5EF4-FFF2-40B4-BE49-F238E27FC236}">
                <a16:creationId xmlns:a16="http://schemas.microsoft.com/office/drawing/2014/main" id="{8629BEA1-F813-40AA-91B7-591C98BE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287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0C0A"/>
                </a:solidFill>
              </a:defRPr>
            </a:pPr>
            <a:r>
              <a:rPr sz="3150" b="1" i="0">
                <a:solidFill>
                  <a:srgbClr val="100C0A"/>
                </a:solidFill>
              </a:rPr>
              <a:t>“La sofisticación se demuestra en el criterio, no en el exceso.”</a:t>
            </a:r>
          </a:p>
        </p:txBody>
      </p:sp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A385BED2-5E4C-4DA1-897D-D8471A10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829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ttribution">
            <a:extLst xmlns:a="http://schemas.openxmlformats.org/drawingml/2006/main">
              <a:ext uri="{FF2B5EF4-FFF2-40B4-BE49-F238E27FC236}">
                <a16:creationId xmlns:a16="http://schemas.microsoft.com/office/drawing/2014/main" id="{596D0FEF-0B50-428B-BDC8-AB52A4C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8650"/>
                </a:solidFill>
              </a:defRPr>
            </a:pPr>
            <a:r>
              <a:rPr sz="1050" b="1" i="0">
                <a:solidFill>
                  <a:srgbClr val="A88650"/>
                </a:solidFill>
              </a:rPr>
              <a:t>PRINCIPIO DE COMUNICACIÓN</a:t>
            </a:r>
          </a:p>
        </p:txBody>
      </p:sp>
      <p:sp>
        <p:nvSpPr>
          <p:cNvPr id="7" name="usage">
            <a:extLst xmlns:a="http://schemas.openxmlformats.org/drawingml/2006/main">
              <a:ext uri="{FF2B5EF4-FFF2-40B4-BE49-F238E27FC236}">
                <a16:creationId xmlns:a16="http://schemas.microsoft.com/office/drawing/2014/main" id="{94EA522B-754B-4BE8-B9E5-F7CA22FF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672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706862"/>
                </a:solidFill>
              </a:defRPr>
            </a:pPr>
            <a:r>
              <a:rPr sz="1500" b="0" i="0">
                <a:solidFill>
                  <a:srgbClr val="706862"/>
                </a:solidFill>
              </a:rPr>
              <a:t>Ideal para citas, manifiestos, testimonios o ideas rectoras.</a:t>
            </a:r>
          </a:p>
        </p:txBody>
      </p:sp>
    </p:spTree>
    <p:extLst>
      <p:ext uri="{BB962C8B-B14F-4D97-AF65-F5344CB8AC3E}">
        <p14:creationId xmlns:p14="http://schemas.microsoft.com/office/powerpoint/2010/main" val="11525799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38AB2149-D9EE-4137-BD7F-1065D731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D5B879"/>
                </a:solidFill>
              </a:defRPr>
            </a:pPr>
            <a:r>
              <a:rPr sz="900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0E5A2FE-560F-46EB-95E7-F1B8C8BF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FFFFFF">
                    <a:alpha val="50196"/>
                  </a:srgbClr>
                </a:solidFill>
              </a:defRPr>
            </a:pPr>
            <a:r>
              <a:rPr sz="825" b="0" i="0">
                <a:solidFill>
                  <a:srgbClr val="FFFFFF">
                    <a:alpha val="50196"/>
                  </a:srgbClr>
                </a:solidFill>
              </a:rPr>
              <a:t>06</a:t>
            </a:r>
          </a:p>
        </p:txBody>
      </p:sp>
      <p:sp>
        <p:nvSpPr>
          <p:cNvPr id="3" name="halo">
            <a:extLst xmlns:a="http://schemas.openxmlformats.org/drawingml/2006/main">
              <a:ext uri="{FF2B5EF4-FFF2-40B4-BE49-F238E27FC236}">
                <a16:creationId xmlns:a16="http://schemas.microsoft.com/office/drawing/2014/main" id="{2FF07D16-88F2-4610-B58A-5F09DA56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4286250" cy="514350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231914"/>
          </a:solidFill>
          <a:ln xmlns:a="http://schemas.openxmlformats.org/drawingml/2006/main" w="9525">
            <a:solidFill>
              <a:srgbClr val="3A2A22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94c087c7a47bd"/>
          <a:stretch xmlns:a="http://schemas.openxmlformats.org/drawingml/2006/main"/>
        </p:blipFill>
        <p:spPr>
          <a:xfrm xmlns:a="http://schemas.openxmlformats.org/drawingml/2006/main">
            <a:off x="1143000" y="1364785"/>
            <a:ext cx="3371850" cy="4318930"/>
          </a:xfrm>
          <a:prstGeom xmlns:a="http://schemas.openxmlformats.org/drawingml/2006/main" prst="rect">
            <a:avLst/>
          </a:prstGeom>
        </p:spPr>
      </p:pic>
      <p:sp>
        <p:nvSpPr>
          <p:cNvPr id="5" name="category">
            <a:extLst xmlns:a="http://schemas.openxmlformats.org/drawingml/2006/main">
              <a:ext uri="{FF2B5EF4-FFF2-40B4-BE49-F238E27FC236}">
                <a16:creationId xmlns:a16="http://schemas.microsoft.com/office/drawing/2014/main" id="{5FAF528A-A973-47DD-A494-80D55ABC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1049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ULTRA-PREMIUM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A839BEA-F741-4244-8F24-010C0306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466850"/>
            <a:ext cx="523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3EEE6"/>
                </a:solidFill>
              </a:defRPr>
            </a:pPr>
            <a:r>
              <a:rPr sz="3600" b="1" i="0">
                <a:solidFill>
                  <a:srgbClr val="F3EEE6"/>
                </a:solidFill>
              </a:rPr>
              <a:t>Carúpano 21</a:t>
            </a:r>
          </a:p>
        </p:txBody>
      </p:sp>
      <p:sp>
        <p:nvSpPr>
          <p:cNvPr id="7" name="role">
            <a:extLst xmlns:a="http://schemas.openxmlformats.org/drawingml/2006/main">
              <a:ext uri="{FF2B5EF4-FFF2-40B4-BE49-F238E27FC236}">
                <a16:creationId xmlns:a16="http://schemas.microsoft.com/office/drawing/2014/main" id="{23B03BF0-03FB-41EB-B87C-7CB8DF2B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00300"/>
            <a:ext cx="5334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FFFFFF">
                    <a:alpha val="72157"/>
                  </a:srgbClr>
                </a:solidFill>
              </a:defRPr>
            </a:pPr>
            <a:r>
              <a:rPr sz="1725" b="0" i="0">
                <a:solidFill>
                  <a:srgbClr val="FFFFFF">
                    <a:alpha val="72157"/>
                  </a:srgbClr>
                </a:solidFill>
              </a:rPr>
              <a:t>Complejidad, equilibrio y una entrada natural al lujo de alta gama.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E29A0CA6-814C-4797-AFEF-40A0D03D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5760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411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act1">
            <a:extLst xmlns:a="http://schemas.openxmlformats.org/drawingml/2006/main">
              <a:ext uri="{FF2B5EF4-FFF2-40B4-BE49-F238E27FC236}">
                <a16:creationId xmlns:a16="http://schemas.microsoft.com/office/drawing/2014/main" id="{802FE424-71EC-43BD-9EB1-9643A1F9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905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HASTA 21 AÑOS</a:t>
            </a:r>
          </a:p>
        </p:txBody>
      </p:sp>
      <p:sp>
        <p:nvSpPr>
          <p:cNvPr id="10" name="fact2">
            <a:extLst xmlns:a="http://schemas.openxmlformats.org/drawingml/2006/main">
              <a:ext uri="{FF2B5EF4-FFF2-40B4-BE49-F238E27FC236}">
                <a16:creationId xmlns:a16="http://schemas.microsoft.com/office/drawing/2014/main" id="{DCCF157A-6956-4478-A233-9AE8ABFD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05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40° G.L.</a:t>
            </a:r>
          </a:p>
        </p:txBody>
      </p:sp>
      <p:sp>
        <p:nvSpPr>
          <p:cNvPr id="11" name="notes">
            <a:extLst xmlns:a="http://schemas.openxmlformats.org/drawingml/2006/main">
              <a:ext uri="{FF2B5EF4-FFF2-40B4-BE49-F238E27FC236}">
                <a16:creationId xmlns:a16="http://schemas.microsoft.com/office/drawing/2014/main" id="{915ED62C-3A38-4997-8CE1-8BB0E6B4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52950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>
                    <a:alpha val="60392"/>
                  </a:srgbClr>
                </a:solidFill>
              </a:defRPr>
            </a:pPr>
            <a:r>
              <a:rPr sz="1350" b="0" i="0">
                <a:solidFill>
                  <a:srgbClr val="FFFFFF">
                    <a:alpha val="60392"/>
                  </a:srgbClr>
                </a:solidFill>
              </a:rPr>
              <a:t>Frutos rojos · sarrapia · madera · café · chocolate negro</a:t>
            </a:r>
          </a:p>
        </p:txBody>
      </p:sp>
    </p:spTree>
    <p:extLst>
      <p:ext uri="{BB962C8B-B14F-4D97-AF65-F5344CB8AC3E}">
        <p14:creationId xmlns:p14="http://schemas.microsoft.com/office/powerpoint/2010/main" val="20411481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">
            <a:extLst xmlns:a="http://schemas.openxmlformats.org/drawingml/2006/main">
              <a:ext uri="{FF2B5EF4-FFF2-40B4-BE49-F238E27FC236}">
                <a16:creationId xmlns:a16="http://schemas.microsoft.com/office/drawing/2014/main" id="{8D3735CE-C427-4DE0-9F5B-94E39869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59F505B5-D432-4A6A-ACC7-C6895D54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706862"/>
                </a:solidFill>
              </a:defRPr>
            </a:pPr>
            <a:r>
              <a:rPr sz="825" b="0" i="0">
                <a:solidFill>
                  <a:srgbClr val="706862"/>
                </a:solidFill>
              </a:rPr>
              <a:t>07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32D75E-03AC-4D51-B167-AC1122E6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0C0A"/>
                </a:solidFill>
              </a:defRPr>
            </a:pPr>
            <a:r>
              <a:rPr sz="3150" b="1" i="0">
                <a:solidFill>
                  <a:srgbClr val="100C0A"/>
                </a:solidFill>
              </a:rPr>
              <a:t>Tres razones para creer.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B75B5F84-B1E7-48C3-AC69-95C2A536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238500" cy="3714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EEE6"/>
          </a:solidFill>
          <a:ln xmlns:a="http://schemas.openxmlformats.org/drawingml/2006/main" w="9525">
            <a:solidFill>
              <a:srgbClr val="D9D0C6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15DCFE79-A1B7-4401-B17A-2A9D6242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A88650"/>
                </a:solidFill>
              </a:defRPr>
            </a:pPr>
            <a:r>
              <a:rPr sz="1500" b="1" i="0">
                <a:solidFill>
                  <a:srgbClr val="A88650"/>
                </a:solidFill>
              </a:rPr>
              <a:t>01</a:t>
            </a:r>
          </a:p>
        </p:txBody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64553100-F345-45C4-A17E-C5D2A19A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00C0A"/>
                </a:solidFill>
              </a:defRPr>
            </a:pPr>
            <a:r>
              <a:rPr sz="2250" b="1" i="0">
                <a:solidFill>
                  <a:srgbClr val="100C0A"/>
                </a:solidFill>
              </a:rPr>
              <a:t>Origen vivo</a:t>
            </a:r>
          </a:p>
        </p:txBody>
      </p:sp>
      <p:sp>
        <p:nvSpPr>
          <p:cNvPr id="7" name="body-0">
            <a:extLst xmlns:a="http://schemas.openxmlformats.org/drawingml/2006/main">
              <a:ext uri="{FF2B5EF4-FFF2-40B4-BE49-F238E27FC236}">
                <a16:creationId xmlns:a16="http://schemas.microsoft.com/office/drawing/2014/main" id="{C69751D4-CE42-4EE1-8D67-3788CB9F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2647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06862"/>
                </a:solidFill>
              </a:defRPr>
            </a:pPr>
            <a:r>
              <a:rPr sz="1350" b="0" i="0">
                <a:solidFill>
                  <a:srgbClr val="706862"/>
                </a:solidFill>
              </a:rPr>
              <a:t>Hacienda Altamira y una historia que comenzó en 1762.</a:t>
            </a:r>
          </a:p>
        </p:txBody>
      </p:sp>
      <p:sp>
        <p:nvSpPr>
          <p:cNvPr id="8" name="card-1">
            <a:extLst xmlns:a="http://schemas.openxmlformats.org/drawingml/2006/main">
              <a:ext uri="{FF2B5EF4-FFF2-40B4-BE49-F238E27FC236}">
                <a16:creationId xmlns:a16="http://schemas.microsoft.com/office/drawing/2014/main" id="{AAE9AFE6-7E02-4493-91D9-03E68F12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05000"/>
            <a:ext cx="3238500" cy="3714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9525">
            <a:solidFill>
              <a:srgbClr val="2A211D"/>
            </a:solidFill>
            <a:prstDash val="solid"/>
          </a:ln>
        </p:spPr>
      </p:sp>
      <p:sp>
        <p:nvSpPr>
          <p:cNvPr id="9" name="num-1">
            <a:extLst xmlns:a="http://schemas.openxmlformats.org/drawingml/2006/main">
              <a:ext uri="{FF2B5EF4-FFF2-40B4-BE49-F238E27FC236}">
                <a16:creationId xmlns:a16="http://schemas.microsoft.com/office/drawing/2014/main" id="{2629B0A2-4FAA-490C-AFEE-55F1FD99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52650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5B879"/>
                </a:solidFill>
              </a:defRPr>
            </a:pPr>
            <a:r>
              <a:rPr sz="1500" b="1" i="0">
                <a:solidFill>
                  <a:srgbClr val="D5B879"/>
                </a:solidFill>
              </a:rPr>
              <a:t>02</a:t>
            </a:r>
          </a:p>
        </p:txBody>
      </p:sp>
      <p:sp>
        <p:nvSpPr>
          <p:cNvPr id="10" name="head-1">
            <a:extLst xmlns:a="http://schemas.openxmlformats.org/drawingml/2006/main">
              <a:ext uri="{FF2B5EF4-FFF2-40B4-BE49-F238E27FC236}">
                <a16:creationId xmlns:a16="http://schemas.microsoft.com/office/drawing/2014/main" id="{3BF2E0BE-3BF2-4936-B69F-A81597B0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575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3EEE6"/>
                </a:solidFill>
              </a:defRPr>
            </a:pPr>
            <a:r>
              <a:rPr sz="2250" b="1" i="0">
                <a:solidFill>
                  <a:srgbClr val="F3EEE6"/>
                </a:solidFill>
              </a:rPr>
              <a:t>Clima que transforma</a:t>
            </a:r>
          </a:p>
        </p:txBody>
      </p:sp>
      <p:sp>
        <p:nvSpPr>
          <p:cNvPr id="11" name="body-1">
            <a:extLst xmlns:a="http://schemas.openxmlformats.org/drawingml/2006/main">
              <a:ext uri="{FF2B5EF4-FFF2-40B4-BE49-F238E27FC236}">
                <a16:creationId xmlns:a16="http://schemas.microsoft.com/office/drawing/2014/main" id="{04D325E1-B0B2-4A62-9C63-8110779B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67150"/>
            <a:ext cx="2647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>
                    <a:alpha val="62745"/>
                  </a:srgbClr>
                </a:solidFill>
              </a:defRPr>
            </a:pPr>
            <a:r>
              <a:rPr sz="1350" b="0" i="0">
                <a:solidFill>
                  <a:srgbClr val="FFFFFF">
                    <a:alpha val="62745"/>
                  </a:srgbClr>
                </a:solidFill>
              </a:rPr>
              <a:t>Calor y humedad aceleran el diálogo entre ron y madera.</a:t>
            </a:r>
          </a:p>
        </p:txBody>
      </p:sp>
      <p:sp>
        <p:nvSpPr>
          <p:cNvPr id="12" name="card-2">
            <a:extLst xmlns:a="http://schemas.openxmlformats.org/drawingml/2006/main">
              <a:ext uri="{FF2B5EF4-FFF2-40B4-BE49-F238E27FC236}">
                <a16:creationId xmlns:a16="http://schemas.microsoft.com/office/drawing/2014/main" id="{1FF6F292-4AA6-496A-AA7F-AE38AFBF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05000"/>
            <a:ext cx="3238500" cy="3714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EEE6"/>
          </a:solidFill>
          <a:ln xmlns:a="http://schemas.openxmlformats.org/drawingml/2006/main" w="9525">
            <a:solidFill>
              <a:srgbClr val="D9D0C6"/>
            </a:solidFill>
            <a:prstDash val="solid"/>
          </a:ln>
        </p:spPr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5C5D96B0-8E88-42C0-BA4B-E0B1D5B0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52650"/>
            <a:ext cx="85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A88650"/>
                </a:solidFill>
              </a:defRPr>
            </a:pPr>
            <a:r>
              <a:rPr sz="1500" b="1" i="0">
                <a:solidFill>
                  <a:srgbClr val="A88650"/>
                </a:solidFill>
              </a:rPr>
              <a:t>03</a:t>
            </a:r>
          </a:p>
        </p:txBody>
      </p:sp>
      <p:sp>
        <p:nvSpPr>
          <p:cNvPr id="14" name="head-2">
            <a:extLst xmlns:a="http://schemas.openxmlformats.org/drawingml/2006/main">
              <a:ext uri="{FF2B5EF4-FFF2-40B4-BE49-F238E27FC236}">
                <a16:creationId xmlns:a16="http://schemas.microsoft.com/office/drawing/2014/main" id="{0D91186D-681B-40EA-B816-090C1A87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00C0A"/>
                </a:solidFill>
              </a:defRPr>
            </a:pPr>
            <a:r>
              <a:rPr sz="2250" b="1" i="0">
                <a:solidFill>
                  <a:srgbClr val="100C0A"/>
                </a:solidFill>
              </a:rPr>
              <a:t>Maestría de mezcla</a:t>
            </a:r>
          </a:p>
        </p:txBody>
      </p:sp>
      <p:sp>
        <p:nvSpPr>
          <p:cNvPr id="15" name="body-2">
            <a:extLst xmlns:a="http://schemas.openxmlformats.org/drawingml/2006/main">
              <a:ext uri="{FF2B5EF4-FFF2-40B4-BE49-F238E27FC236}">
                <a16:creationId xmlns:a16="http://schemas.microsoft.com/office/drawing/2014/main" id="{D0219859-61DD-4CB8-AF6E-3D53F199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2647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706862"/>
                </a:solidFill>
              </a:defRPr>
            </a:pPr>
            <a:r>
              <a:rPr sz="1350" b="0" i="0">
                <a:solidFill>
                  <a:srgbClr val="706862"/>
                </a:solidFill>
              </a:rPr>
              <a:t>Selección y criterio convierten complejidad en equilibrio.</a:t>
            </a:r>
          </a:p>
        </p:txBody>
      </p:sp>
    </p:spTree>
    <p:extLst>
      <p:ext uri="{BB962C8B-B14F-4D97-AF65-F5344CB8AC3E}">
        <p14:creationId xmlns:p14="http://schemas.microsoft.com/office/powerpoint/2010/main" val="11554091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A64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D79D874C-587F-42BB-94DF-AA14B60C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D5B879"/>
                </a:solidFill>
              </a:defRPr>
            </a:pPr>
            <a:r>
              <a:rPr sz="900" b="1" i="0">
                <a:solidFill>
                  <a:srgbClr val="D5B879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7002F82-6493-4F8E-8A38-7D9C011E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FFFFFF">
                    <a:alpha val="50196"/>
                  </a:srgbClr>
                </a:solidFill>
              </a:defRPr>
            </a:pPr>
            <a:r>
              <a:rPr sz="825" b="0" i="0">
                <a:solidFill>
                  <a:srgbClr val="FFFFFF">
                    <a:alpha val="50196"/>
                  </a:srgbClr>
                </a:solidFill>
              </a:rPr>
              <a:t>08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0BA25BF-25A6-4697-82D9-A69EEFB4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3EEE6"/>
                </a:solidFill>
              </a:defRPr>
            </a:pPr>
            <a:r>
              <a:rPr sz="1050" b="1" i="0">
                <a:solidFill>
                  <a:srgbClr val="F3EEE6"/>
                </a:solidFill>
              </a:rPr>
              <a:t>FORMATO DE DATO / PREMIO</a:t>
            </a:r>
          </a:p>
        </p:txBody>
      </p:sp>
      <p:sp>
        <p:nvSpPr>
          <p:cNvPr id="4" name="metric">
            <a:extLst xmlns:a="http://schemas.openxmlformats.org/drawingml/2006/main">
              <a:ext uri="{FF2B5EF4-FFF2-40B4-BE49-F238E27FC236}">
                <a16:creationId xmlns:a16="http://schemas.microsoft.com/office/drawing/2014/main" id="{A30FE0EE-A6EF-4578-AC13-8139E045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619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900" b="1" i="0">
                <a:solidFill>
                  <a:srgbClr val="F3EEE6"/>
                </a:solidFill>
              </a:defRPr>
            </a:pPr>
            <a:r>
              <a:rPr sz="9900" b="1" i="0">
                <a:solidFill>
                  <a:srgbClr val="F3EEE6"/>
                </a:solidFill>
              </a:rPr>
              <a:t>01</a:t>
            </a:r>
          </a:p>
        </p:txBody>
      </p:sp>
      <p:sp>
        <p:nvSpPr>
          <p:cNvPr id="5" name="unit">
            <a:extLst xmlns:a="http://schemas.openxmlformats.org/drawingml/2006/main">
              <a:ext uri="{FF2B5EF4-FFF2-40B4-BE49-F238E27FC236}">
                <a16:creationId xmlns:a16="http://schemas.microsoft.com/office/drawing/2014/main" id="{2E09D79F-EFA1-40A6-84B8-B7515847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3EEE6"/>
                </a:solidFill>
              </a:defRPr>
            </a:pPr>
            <a:r>
              <a:rPr sz="1800" b="1" i="0">
                <a:solidFill>
                  <a:srgbClr val="F3EEE6"/>
                </a:solidFill>
              </a:rPr>
              <a:t>idea central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38EA698-7ED9-4EBF-B6F5-3C1D8148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954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3EEE6"/>
                </a:solidFill>
              </a:defRPr>
            </a:pPr>
            <a:r>
              <a:rPr sz="3150" b="1" i="0">
                <a:solidFill>
                  <a:srgbClr val="F3EEE6"/>
                </a:solidFill>
              </a:rPr>
              <a:t>Concentre la atención en una cifra, reconocimiento o conclusión.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3FF1FD2-7032-459E-BA56-A8F97D23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14750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>
                    <a:alpha val="77255"/>
                  </a:srgbClr>
                </a:solidFill>
              </a:defRPr>
            </a:pPr>
            <a:r>
              <a:rPr sz="1500" b="0" i="0">
                <a:solidFill>
                  <a:srgbClr val="FFFFFF">
                    <a:alpha val="77255"/>
                  </a:srgbClr>
                </a:solidFill>
              </a:rPr>
              <a:t>Acompañe el dato con una explicación breve de por qué importa para la audiencia.</a:t>
            </a:r>
          </a:p>
        </p:txBody>
      </p:sp>
    </p:spTree>
    <p:extLst>
      <p:ext uri="{BB962C8B-B14F-4D97-AF65-F5344CB8AC3E}">
        <p14:creationId xmlns:p14="http://schemas.microsoft.com/office/powerpoint/2010/main" val="4425465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">
            <a:extLst xmlns:a="http://schemas.openxmlformats.org/drawingml/2006/main">
              <a:ext uri="{FF2B5EF4-FFF2-40B4-BE49-F238E27FC236}">
                <a16:creationId xmlns:a16="http://schemas.microsoft.com/office/drawing/2014/main" id="{94B30E69-D680-43DA-BDB7-B416A057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A88650"/>
                </a:solidFill>
              </a:defRPr>
            </a:pPr>
            <a:r>
              <a:rPr sz="900" b="1" i="0">
                <a:solidFill>
                  <a:srgbClr val="A88650"/>
                </a:solidFill>
              </a:rPr>
              <a:t>RON CARÚPANO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69E1E721-0E3A-4404-AECE-9822051D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67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706862"/>
                </a:solidFill>
              </a:defRPr>
            </a:pPr>
            <a:r>
              <a:rPr sz="825" b="0" i="0">
                <a:solidFill>
                  <a:srgbClr val="706862"/>
                </a:solidFill>
              </a:rPr>
              <a:t>09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A4B2A3-989F-4C26-9BDE-42CA642A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00C0A"/>
                </a:solidFill>
              </a:defRPr>
            </a:pPr>
            <a:r>
              <a:rPr sz="3150" b="1" i="0">
                <a:solidFill>
                  <a:srgbClr val="100C0A"/>
                </a:solidFill>
              </a:rPr>
              <a:t>De la reserva a la experiencia.</a:t>
            </a:r>
          </a:p>
        </p:txBody>
      </p:sp>
      <p:sp>
        <p:nvSpPr>
          <p:cNvPr id="4" name="timeline">
            <a:extLst xmlns:a="http://schemas.openxmlformats.org/drawingml/2006/main">
              <a:ext uri="{FF2B5EF4-FFF2-40B4-BE49-F238E27FC236}">
                <a16:creationId xmlns:a16="http://schemas.microsoft.com/office/drawing/2014/main" id="{C44631B9-5E7E-43FA-88FC-D666A792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051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ot-0">
            <a:extLst xmlns:a="http://schemas.openxmlformats.org/drawingml/2006/main">
              <a:ext uri="{FF2B5EF4-FFF2-40B4-BE49-F238E27FC236}">
                <a16:creationId xmlns:a16="http://schemas.microsoft.com/office/drawing/2014/main" id="{96954D2F-78D8-41F3-A0FC-C719E66C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8765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-0">
            <a:extLst xmlns:a="http://schemas.openxmlformats.org/drawingml/2006/main">
              <a:ext uri="{FF2B5EF4-FFF2-40B4-BE49-F238E27FC236}">
                <a16:creationId xmlns:a16="http://schemas.microsoft.com/office/drawing/2014/main" id="{18F6053B-42A2-4517-A905-9B685EFA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876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3EEE6"/>
                </a:solidFill>
              </a:defRPr>
            </a:pPr>
            <a:r>
              <a:rPr sz="1050" b="1" i="0">
                <a:solidFill>
                  <a:srgbClr val="F3EEE6"/>
                </a:solidFill>
              </a:rPr>
              <a:t>01</a:t>
            </a:r>
          </a:p>
        </p:txBody>
      </p:sp>
      <p:sp>
        <p:nvSpPr>
          <p:cNvPr id="7" name="label-0">
            <a:extLst xmlns:a="http://schemas.openxmlformats.org/drawingml/2006/main">
              <a:ext uri="{FF2B5EF4-FFF2-40B4-BE49-F238E27FC236}">
                <a16:creationId xmlns:a16="http://schemas.microsoft.com/office/drawing/2014/main" id="{4E8C3F07-B3DC-4852-90A0-D22F4EAE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50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Seleccionar</a:t>
            </a:r>
          </a:p>
        </p:txBody>
      </p:sp>
      <p:sp>
        <p:nvSpPr>
          <p:cNvPr id="8" name="copy-0">
            <a:extLst xmlns:a="http://schemas.openxmlformats.org/drawingml/2006/main">
              <a:ext uri="{FF2B5EF4-FFF2-40B4-BE49-F238E27FC236}">
                <a16:creationId xmlns:a16="http://schemas.microsoft.com/office/drawing/2014/main" id="{A820315D-B9A4-42F4-9E44-4B77660F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504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breve explica el momento y su valor.</a:t>
            </a:r>
          </a:p>
        </p:txBody>
      </p:sp>
      <p:sp>
        <p:nvSpPr>
          <p:cNvPr id="9" name="dot-1">
            <a:extLst xmlns:a="http://schemas.openxmlformats.org/drawingml/2006/main">
              <a:ext uri="{FF2B5EF4-FFF2-40B4-BE49-F238E27FC236}">
                <a16:creationId xmlns:a16="http://schemas.microsoft.com/office/drawing/2014/main" id="{A7F6DC79-2765-4344-802F-AD741921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765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um-1">
            <a:extLst xmlns:a="http://schemas.openxmlformats.org/drawingml/2006/main">
              <a:ext uri="{FF2B5EF4-FFF2-40B4-BE49-F238E27FC236}">
                <a16:creationId xmlns:a16="http://schemas.microsoft.com/office/drawing/2014/main" id="{9B0BC80E-64D5-4480-8867-B92B83B1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76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3EEE6"/>
                </a:solidFill>
              </a:defRPr>
            </a:pPr>
            <a:r>
              <a:rPr sz="1050" b="1" i="0">
                <a:solidFill>
                  <a:srgbClr val="F3EEE6"/>
                </a:solidFill>
              </a:rPr>
              <a:t>02</a:t>
            </a:r>
          </a:p>
        </p:txBody>
      </p:sp>
      <p:sp>
        <p:nvSpPr>
          <p:cNvPr id="11" name="label-1">
            <a:extLst xmlns:a="http://schemas.openxmlformats.org/drawingml/2006/main">
              <a:ext uri="{FF2B5EF4-FFF2-40B4-BE49-F238E27FC236}">
                <a16:creationId xmlns:a16="http://schemas.microsoft.com/office/drawing/2014/main" id="{4488D566-1016-4E76-AAF1-B9EEBC99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38550"/>
            <a:ext cx="150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Mezclar</a:t>
            </a:r>
          </a:p>
        </p:txBody>
      </p:sp>
      <p:sp>
        <p:nvSpPr>
          <p:cNvPr id="12" name="copy-1">
            <a:extLst xmlns:a="http://schemas.openxmlformats.org/drawingml/2006/main">
              <a:ext uri="{FF2B5EF4-FFF2-40B4-BE49-F238E27FC236}">
                <a16:creationId xmlns:a16="http://schemas.microsoft.com/office/drawing/2014/main" id="{114E4A1B-662C-4EF4-9BA6-B97D5450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29100"/>
            <a:ext cx="1504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breve explica el momento y su valor.</a:t>
            </a:r>
          </a:p>
        </p:txBody>
      </p:sp>
      <p:sp>
        <p:nvSpPr>
          <p:cNvPr id="13" name="dot-2">
            <a:extLst xmlns:a="http://schemas.openxmlformats.org/drawingml/2006/main">
              <a:ext uri="{FF2B5EF4-FFF2-40B4-BE49-F238E27FC236}">
                <a16:creationId xmlns:a16="http://schemas.microsoft.com/office/drawing/2014/main" id="{8189480D-1689-4B83-9429-40884664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8765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0C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um-2">
            <a:extLst xmlns:a="http://schemas.openxmlformats.org/drawingml/2006/main">
              <a:ext uri="{FF2B5EF4-FFF2-40B4-BE49-F238E27FC236}">
                <a16:creationId xmlns:a16="http://schemas.microsoft.com/office/drawing/2014/main" id="{BE039099-5FB2-4D77-BFB1-04D745B8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876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3EEE6"/>
                </a:solidFill>
              </a:defRPr>
            </a:pPr>
            <a:r>
              <a:rPr sz="1050" b="1" i="0">
                <a:solidFill>
                  <a:srgbClr val="F3EEE6"/>
                </a:solidFill>
              </a:rPr>
              <a:t>03</a:t>
            </a:r>
          </a:p>
        </p:txBody>
      </p:sp>
      <p:sp>
        <p:nvSpPr>
          <p:cNvPr id="15" name="label-2">
            <a:extLst xmlns:a="http://schemas.openxmlformats.org/drawingml/2006/main">
              <a:ext uri="{FF2B5EF4-FFF2-40B4-BE49-F238E27FC236}">
                <a16:creationId xmlns:a16="http://schemas.microsoft.com/office/drawing/2014/main" id="{B71A2A56-ED47-4FEC-BE53-C1FBBD5F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38550"/>
            <a:ext cx="150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Reposar</a:t>
            </a:r>
          </a:p>
        </p:txBody>
      </p:sp>
      <p:sp>
        <p:nvSpPr>
          <p:cNvPr id="16" name="copy-2">
            <a:extLst xmlns:a="http://schemas.openxmlformats.org/drawingml/2006/main">
              <a:ext uri="{FF2B5EF4-FFF2-40B4-BE49-F238E27FC236}">
                <a16:creationId xmlns:a16="http://schemas.microsoft.com/office/drawing/2014/main" id="{88F1BDB4-AB25-42C8-B0D4-43828A1A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29100"/>
            <a:ext cx="1504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breve explica el momento y su valor.</a:t>
            </a:r>
          </a:p>
        </p:txBody>
      </p:sp>
      <p:sp>
        <p:nvSpPr>
          <p:cNvPr id="17" name="dot-3">
            <a:extLst xmlns:a="http://schemas.openxmlformats.org/drawingml/2006/main">
              <a:ext uri="{FF2B5EF4-FFF2-40B4-BE49-F238E27FC236}">
                <a16:creationId xmlns:a16="http://schemas.microsoft.com/office/drawing/2014/main" id="{1F23D100-B797-416A-B351-88FA271A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765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8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um-3">
            <a:extLst xmlns:a="http://schemas.openxmlformats.org/drawingml/2006/main">
              <a:ext uri="{FF2B5EF4-FFF2-40B4-BE49-F238E27FC236}">
                <a16:creationId xmlns:a16="http://schemas.microsoft.com/office/drawing/2014/main" id="{7BAC63A2-F46A-477D-AE91-98B1C6A9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76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3EEE6"/>
                </a:solidFill>
              </a:defRPr>
            </a:pPr>
            <a:r>
              <a:rPr sz="1050" b="1" i="0">
                <a:solidFill>
                  <a:srgbClr val="F3EEE6"/>
                </a:solidFill>
              </a:rPr>
              <a:t>04</a:t>
            </a:r>
          </a:p>
        </p:txBody>
      </p:sp>
      <p:sp>
        <p:nvSpPr>
          <p:cNvPr id="19" name="label-3">
            <a:extLst xmlns:a="http://schemas.openxmlformats.org/drawingml/2006/main">
              <a:ext uri="{FF2B5EF4-FFF2-40B4-BE49-F238E27FC236}">
                <a16:creationId xmlns:a16="http://schemas.microsoft.com/office/drawing/2014/main" id="{D754DC01-488C-4F76-8B05-FDE75E0A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1504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0C0A"/>
                </a:solidFill>
              </a:defRPr>
            </a:pPr>
            <a:r>
              <a:rPr sz="1650" b="1" i="0">
                <a:solidFill>
                  <a:srgbClr val="100C0A"/>
                </a:solidFill>
              </a:rPr>
              <a:t>Servir</a:t>
            </a:r>
          </a:p>
        </p:txBody>
      </p:sp>
      <p:sp>
        <p:nvSpPr>
          <p:cNvPr id="20" name="copy-3">
            <a:extLst xmlns:a="http://schemas.openxmlformats.org/drawingml/2006/main">
              <a:ext uri="{FF2B5EF4-FFF2-40B4-BE49-F238E27FC236}">
                <a16:creationId xmlns:a16="http://schemas.microsoft.com/office/drawing/2014/main" id="{C700CFD4-FFBD-483A-8FC0-2452A382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229100"/>
            <a:ext cx="1504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706862"/>
                </a:solidFill>
              </a:defRPr>
            </a:pPr>
            <a:r>
              <a:rPr sz="1200" b="0" i="0">
                <a:solidFill>
                  <a:srgbClr val="706862"/>
                </a:solidFill>
              </a:rPr>
              <a:t>Una frase breve explica el momento y su valor.</a:t>
            </a:r>
          </a:p>
        </p:txBody>
      </p:sp>
    </p:spTree>
    <p:extLst>
      <p:ext uri="{BB962C8B-B14F-4D97-AF65-F5344CB8AC3E}">
        <p14:creationId xmlns:p14="http://schemas.microsoft.com/office/powerpoint/2010/main" val="717511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0C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7773027-E337-474E-95E9-F9EF7049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CIERRE / LLAMADO A LA ACCIÓN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26CBCD-F487-4468-920E-CBCE5B34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3EEE6"/>
                </a:solidFill>
              </a:defRPr>
            </a:pPr>
            <a:r>
              <a:rPr sz="4350" b="1" i="0">
                <a:solidFill>
                  <a:srgbClr val="F3EEE6"/>
                </a:solidFill>
              </a:rPr>
              <a:t>Lleve la marca</a:t>
            </a:r>
          </a:p>
          <a:p xmlns:a="http://schemas.openxmlformats.org/drawingml/2006/main">
            <a:pPr algn="l">
              <a:defRPr sz="4350" b="1" i="0">
                <a:solidFill>
                  <a:srgbClr val="F3EEE6"/>
                </a:solidFill>
              </a:defRPr>
            </a:pPr>
            <a:r>
              <a:rPr sz="4350" b="1" i="0">
                <a:solidFill>
                  <a:srgbClr val="F3EEE6"/>
                </a:solidFill>
              </a:rPr>
              <a:t>a Otro Nivel.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141FA2BB-CA8D-4A35-8581-A5B24B59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>
                    <a:alpha val="65882"/>
                  </a:srgbClr>
                </a:solidFill>
              </a:defRPr>
            </a:pPr>
            <a:r>
              <a:rPr sz="1575" b="0" i="0">
                <a:solidFill>
                  <a:srgbClr val="FFFFFF">
                    <a:alpha val="65882"/>
                  </a:srgbClr>
                </a:solidFill>
              </a:rPr>
              <a:t>Use el cierre para resolver la presentación con una decisión, una invitación o el siguiente paso.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aedeb1bd1426d"/>
          <a:stretch xmlns:a="http://schemas.openxmlformats.org/drawingml/2006/main"/>
        </p:blipFill>
        <p:spPr>
          <a:xfrm xmlns:a="http://schemas.openxmlformats.org/drawingml/2006/main">
            <a:off x="8286750" y="2856035"/>
            <a:ext cx="2667000" cy="307731"/>
          </a:xfrm>
          <a:prstGeom xmlns:a="http://schemas.openxmlformats.org/drawingml/2006/main" prst="rect">
            <a:avLst/>
          </a:prstGeom>
        </p:spPr>
      </p:pic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426E17B1-348B-46D0-972C-D86D13EB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ntact">
            <a:extLst xmlns:a="http://schemas.openxmlformats.org/drawingml/2006/main">
              <a:ext uri="{FF2B5EF4-FFF2-40B4-BE49-F238E27FC236}">
                <a16:creationId xmlns:a16="http://schemas.microsoft.com/office/drawing/2014/main" id="{9CA81FB2-5DC5-4CD5-A1A7-AFB5F2ED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5B879"/>
                </a:solidFill>
              </a:defRPr>
            </a:pPr>
            <a:r>
              <a:rPr sz="1050" b="1" i="0">
                <a:solidFill>
                  <a:srgbClr val="D5B879"/>
                </a:solidFill>
              </a:rPr>
              <a:t>roncarupano.com</a:t>
            </a:r>
          </a:p>
        </p:txBody>
      </p:sp>
    </p:spTree>
    <p:extLst>
      <p:ext uri="{BB962C8B-B14F-4D97-AF65-F5344CB8AC3E}">
        <p14:creationId xmlns:p14="http://schemas.microsoft.com/office/powerpoint/2010/main" val="1322350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2026-07-21T03:03:57.1120000Z</dcterms:created>
  <dcterms:modified xsi:type="dcterms:W3CDTF">2026-07-21T03:03:57.1120000Z</dcterms:modified>
</coreProperties>
</file>