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85E6110-D072-4893-97ED-07963C2BD99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4.jpe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/>
          <p:cNvPicPr/>
          <p:nvPr/>
        </p:nvPicPr>
        <p:blipFill>
          <a:blip r:embed="rId1"/>
          <a:srcRect l="4627" t="0" r="4627" b="0"/>
          <a:stretch/>
        </p:blipFill>
        <p:spPr>
          <a:xfrm>
            <a:off x="7334280" y="0"/>
            <a:ext cx="48574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veil"/>
          <p:cNvSpPr/>
          <p:nvPr/>
        </p:nvSpPr>
        <p:spPr>
          <a:xfrm>
            <a:off x="6858000" y="0"/>
            <a:ext cx="5333760" cy="6857640"/>
          </a:xfrm>
          <a:prstGeom prst="rect">
            <a:avLst/>
          </a:prstGeom>
          <a:solidFill>
            <a:srgbClr val="100C0A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eyebrow"/>
          <p:cNvSpPr/>
          <p:nvPr/>
        </p:nvSpPr>
        <p:spPr>
          <a:xfrm>
            <a:off x="685800" y="66672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MASTER DECK CORPORATIVO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itle"/>
          <p:cNvSpPr/>
          <p:nvPr/>
        </p:nvSpPr>
        <p:spPr>
          <a:xfrm>
            <a:off x="685800" y="1523880"/>
            <a:ext cx="6190920" cy="25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El Caribe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transforma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el tiempo.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ubtitle"/>
          <p:cNvSpPr/>
          <p:nvPr/>
        </p:nvSpPr>
        <p:spPr>
          <a:xfrm>
            <a:off x="723960" y="4524480"/>
            <a:ext cx="581004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0" u="none" strike="noStrike">
                <a:solidFill>
                  <a:srgbClr val="FFFFFF">
                    <a:alpha val="69000"/>
                  </a:srgbClr>
                </a:solidFill>
                <a:effectLst/>
                <a:uFillTx/>
                <a:latin typeface="Inter"/>
                <a:ea typeface="Inter"/>
              </a:rPr>
              <a:t>Sistema editable para estrategia, marca, producto y ejecución.</a:t>
            </a:r>
            <a:endParaRPr lang="en-US" sz="1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rule"/>
          <p:cNvSpPr/>
          <p:nvPr/>
        </p:nvSpPr>
        <p:spPr>
          <a:xfrm>
            <a:off x="723960" y="5715000"/>
            <a:ext cx="1809360" cy="2808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edition"/>
          <p:cNvSpPr/>
          <p:nvPr/>
        </p:nvSpPr>
        <p:spPr>
          <a:xfrm>
            <a:off x="723960" y="5905440"/>
            <a:ext cx="4095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V.02 · Adobe Garamond Pro + Inter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"/>
          <p:cNvPicPr/>
          <p:nvPr/>
        </p:nvPicPr>
        <p:blipFill>
          <a:blip r:embed="rId2"/>
          <a:stretch/>
        </p:blipFill>
        <p:spPr>
          <a:xfrm>
            <a:off x="685800" y="291240"/>
            <a:ext cx="2381040" cy="2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CÓMO USAR ESTE MASTER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itle"/>
          <p:cNvSpPr/>
          <p:nvPr/>
        </p:nvSpPr>
        <p:spPr>
          <a:xfrm>
            <a:off x="685800" y="1200240"/>
            <a:ext cx="7238520" cy="12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Una estructura consistente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sin limitar las ideas.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intro"/>
          <p:cNvSpPr/>
          <p:nvPr/>
        </p:nvSpPr>
        <p:spPr>
          <a:xfrm>
            <a:off x="685800" y="2666880"/>
            <a:ext cx="590508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Elige el layout según el trabajo de la slide. Mantén una idea dominante, una jerarquía clara y suficiente respiración.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n0"/>
          <p:cNvSpPr/>
          <p:nvPr/>
        </p:nvSpPr>
        <p:spPr>
          <a:xfrm>
            <a:off x="685800" y="3943440"/>
            <a:ext cx="495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h0"/>
          <p:cNvSpPr/>
          <p:nvPr/>
        </p:nvSpPr>
        <p:spPr>
          <a:xfrm>
            <a:off x="1409760" y="3943440"/>
            <a:ext cx="28573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Adobe Garamond Pro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b0"/>
          <p:cNvSpPr/>
          <p:nvPr/>
        </p:nvSpPr>
        <p:spPr>
          <a:xfrm>
            <a:off x="4476600" y="3943440"/>
            <a:ext cx="6095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Titulares, citas y momentos de expresión.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l0"/>
          <p:cNvSpPr/>
          <p:nvPr/>
        </p:nvSpPr>
        <p:spPr>
          <a:xfrm>
            <a:off x="685800" y="434340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n1"/>
          <p:cNvSpPr/>
          <p:nvPr/>
        </p:nvSpPr>
        <p:spPr>
          <a:xfrm>
            <a:off x="685800" y="4552920"/>
            <a:ext cx="495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h1"/>
          <p:cNvSpPr/>
          <p:nvPr/>
        </p:nvSpPr>
        <p:spPr>
          <a:xfrm>
            <a:off x="1409760" y="4552920"/>
            <a:ext cx="28573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Inter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b1"/>
          <p:cNvSpPr/>
          <p:nvPr/>
        </p:nvSpPr>
        <p:spPr>
          <a:xfrm>
            <a:off x="4476600" y="4552920"/>
            <a:ext cx="6095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Contenido, datos, tablas y navegación.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l1"/>
          <p:cNvSpPr/>
          <p:nvPr/>
        </p:nvSpPr>
        <p:spPr>
          <a:xfrm>
            <a:off x="685800" y="495288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n2"/>
          <p:cNvSpPr/>
          <p:nvPr/>
        </p:nvSpPr>
        <p:spPr>
          <a:xfrm>
            <a:off x="685800" y="5162400"/>
            <a:ext cx="495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h2"/>
          <p:cNvSpPr/>
          <p:nvPr/>
        </p:nvSpPr>
        <p:spPr>
          <a:xfrm>
            <a:off x="1409760" y="5162400"/>
            <a:ext cx="28573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Una idea por slide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b2"/>
          <p:cNvSpPr/>
          <p:nvPr/>
        </p:nvSpPr>
        <p:spPr>
          <a:xfrm>
            <a:off x="4476600" y="5162400"/>
            <a:ext cx="6095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Edite, duplique o elimine sin mezclar estructuras.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l2"/>
          <p:cNvSpPr/>
          <p:nvPr/>
        </p:nvSpPr>
        <p:spPr>
          <a:xfrm>
            <a:off x="685800" y="556272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PORTADA CLARA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itle"/>
          <p:cNvSpPr/>
          <p:nvPr/>
        </p:nvSpPr>
        <p:spPr>
          <a:xfrm>
            <a:off x="685800" y="1809720"/>
            <a:ext cx="6857640" cy="16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Una historia que</a:t>
            </a:r>
            <a:endParaRPr lang="en-US" sz="4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sigue avanzando.</a:t>
            </a:r>
            <a:endParaRPr lang="en-US" sz="4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ub"/>
          <p:cNvSpPr/>
          <p:nvPr/>
        </p:nvSpPr>
        <p:spPr>
          <a:xfrm>
            <a:off x="723960" y="4000680"/>
            <a:ext cx="6190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Título de la presentación · Área o proyecto · Fecha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8191440" y="1703520"/>
            <a:ext cx="2857320" cy="366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accent"/>
          <p:cNvSpPr/>
          <p:nvPr/>
        </p:nvSpPr>
        <p:spPr>
          <a:xfrm>
            <a:off x="685800" y="5219640"/>
            <a:ext cx="4952520" cy="2808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475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04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ection"/>
          <p:cNvSpPr/>
          <p:nvPr/>
        </p:nvSpPr>
        <p:spPr>
          <a:xfrm>
            <a:off x="685800" y="1162080"/>
            <a:ext cx="1618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1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02</a:t>
            </a:r>
            <a:endParaRPr lang="en-US" sz="6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itle"/>
          <p:cNvSpPr/>
          <p:nvPr/>
        </p:nvSpPr>
        <p:spPr>
          <a:xfrm>
            <a:off x="3143160" y="1380960"/>
            <a:ext cx="74293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12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La idea que abre</a:t>
            </a:r>
            <a:endParaRPr lang="en-US" sz="4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12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el siguiente capítulo.</a:t>
            </a:r>
            <a:endParaRPr lang="en-US" sz="4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copy"/>
          <p:cNvSpPr/>
          <p:nvPr/>
        </p:nvSpPr>
        <p:spPr>
          <a:xfrm>
            <a:off x="3181320" y="3333600"/>
            <a:ext cx="619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0" u="none" strike="noStrike">
                <a:solidFill>
                  <a:srgbClr val="34271F"/>
                </a:solidFill>
                <a:effectLst/>
                <a:uFillTx/>
                <a:latin typeface="Inter"/>
                <a:ea typeface="Inter"/>
              </a:rPr>
              <a:t>Usa una frase que cree dirección y prepare la conversación.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rule"/>
          <p:cNvSpPr/>
          <p:nvPr/>
        </p:nvSpPr>
        <p:spPr>
          <a:xfrm>
            <a:off x="3181320" y="4334040"/>
            <a:ext cx="4857480" cy="18720"/>
          </a:xfrm>
          <a:prstGeom prst="rect">
            <a:avLst/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05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eyebrow"/>
          <p:cNvSpPr/>
          <p:nvPr/>
        </p:nvSpPr>
        <p:spPr>
          <a:xfrm>
            <a:off x="685800" y="8762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DECLARACIÓN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itle"/>
          <p:cNvSpPr/>
          <p:nvPr/>
        </p:nvSpPr>
        <p:spPr>
          <a:xfrm>
            <a:off x="685800" y="1676520"/>
            <a:ext cx="9810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9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El origen no es contexto.</a:t>
            </a:r>
            <a:endParaRPr lang="en-US" sz="4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9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Es una ventaja.</a:t>
            </a:r>
            <a:endParaRPr lang="en-US" sz="4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body"/>
          <p:cNvSpPr/>
          <p:nvPr/>
        </p:nvSpPr>
        <p:spPr>
          <a:xfrm>
            <a:off x="723960" y="4095720"/>
            <a:ext cx="6667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>
                    <a:alpha val="59000"/>
                  </a:srgbClr>
                </a:solidFill>
                <a:effectLst/>
                <a:uFillTx/>
                <a:latin typeface="Inter"/>
                <a:ea typeface="Inter"/>
              </a:rPr>
              <a:t>Una slide para concentrar atención en una sola conclusión.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mark"/>
          <p:cNvSpPr/>
          <p:nvPr/>
        </p:nvSpPr>
        <p:spPr>
          <a:xfrm>
            <a:off x="8001000" y="4667400"/>
            <a:ext cx="31428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600" b="1" u="none" strike="noStrike">
                <a:solidFill>
                  <a:srgbClr val="D5B879"/>
                </a:solidFill>
                <a:effectLst/>
                <a:uFillTx/>
                <a:latin typeface="Adobe Garamond Pro"/>
                <a:ea typeface="Adobe Garamond Pro"/>
              </a:rPr>
              <a:t>1762</a:t>
            </a:r>
            <a:endParaRPr lang="en-US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"/>
          <p:cNvPicPr/>
          <p:nvPr/>
        </p:nvPicPr>
        <p:blipFill>
          <a:blip r:embed="rId1"/>
          <a:stretch/>
        </p:blipFill>
        <p:spPr>
          <a:xfrm>
            <a:off x="6853680" y="0"/>
            <a:ext cx="45802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scrim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00C0A">
              <a:alpha val="51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eyebrow"/>
          <p:cNvSpPr/>
          <p:nvPr/>
        </p:nvSpPr>
        <p:spPr>
          <a:xfrm>
            <a:off x="685800" y="6858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EXPERIENCIA / RITUAL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itle"/>
          <p:cNvSpPr/>
          <p:nvPr/>
        </p:nvSpPr>
        <p:spPr>
          <a:xfrm>
            <a:off x="685800" y="4000680"/>
            <a:ext cx="676224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copa.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Otra dimensión.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caption"/>
          <p:cNvSpPr/>
          <p:nvPr/>
        </p:nvSpPr>
        <p:spPr>
          <a:xfrm>
            <a:off x="723960" y="567684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>
                    <a:alpha val="69000"/>
                  </a:srgbClr>
                </a:solidFill>
                <a:effectLst/>
                <a:uFillTx/>
                <a:latin typeface="Inter"/>
                <a:ea typeface="Inter"/>
              </a:rPr>
              <a:t>Formato de imagen completa para campañas, cultura y aperturas emocionales.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"/>
          <p:cNvPicPr/>
          <p:nvPr/>
        </p:nvPicPr>
        <p:blipFill>
          <a:blip r:embed="rId1"/>
          <a:srcRect l="0" t="7806" r="0" b="7806"/>
          <a:stretch/>
        </p:blipFill>
        <p:spPr>
          <a:xfrm>
            <a:off x="0" y="0"/>
            <a:ext cx="54288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eyebrow"/>
          <p:cNvSpPr/>
          <p:nvPr/>
        </p:nvSpPr>
        <p:spPr>
          <a:xfrm>
            <a:off x="6191280" y="8762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HISTORIA / CONTEXTO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itle"/>
          <p:cNvSpPr/>
          <p:nvPr/>
        </p:nvSpPr>
        <p:spPr>
          <a:xfrm>
            <a:off x="6191280" y="1467000"/>
            <a:ext cx="49525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El momento importa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tanto como la copa.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body"/>
          <p:cNvSpPr/>
          <p:nvPr/>
        </p:nvSpPr>
        <p:spPr>
          <a:xfrm>
            <a:off x="6191280" y="3276720"/>
            <a:ext cx="4762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Usa este formato cuando la fotografía aporte contexto humano, sensorial o cultural. Explica por qué esa escena es relevante para la audiencia.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ule"/>
          <p:cNvSpPr/>
          <p:nvPr/>
        </p:nvSpPr>
        <p:spPr>
          <a:xfrm>
            <a:off x="6191280" y="5200560"/>
            <a:ext cx="1142640" cy="2808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08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frame"/>
          <p:cNvSpPr/>
          <p:nvPr/>
        </p:nvSpPr>
        <p:spPr>
          <a:xfrm>
            <a:off x="685800" y="876240"/>
            <a:ext cx="4476240" cy="5238360"/>
          </a:xfrm>
          <a:prstGeom prst="roundRect">
            <a:avLst>
              <a:gd name="adj" fmla="val 3404"/>
            </a:avLst>
          </a:prstGeom>
          <a:solidFill>
            <a:srgbClr val="2B1B15"/>
          </a:solidFill>
          <a:ln w="9525">
            <a:solidFill>
              <a:srgbClr val="4B33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" name=""/>
          <p:cNvPicPr/>
          <p:nvPr/>
        </p:nvPicPr>
        <p:blipFill>
          <a:blip r:embed="rId1"/>
          <a:stretch/>
        </p:blipFill>
        <p:spPr>
          <a:xfrm>
            <a:off x="1066680" y="1121040"/>
            <a:ext cx="3714480" cy="475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eyebrow"/>
          <p:cNvSpPr/>
          <p:nvPr/>
        </p:nvSpPr>
        <p:spPr>
          <a:xfrm>
            <a:off x="5905440" y="10476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ULTRA-PREMIUM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itle"/>
          <p:cNvSpPr/>
          <p:nvPr/>
        </p:nvSpPr>
        <p:spPr>
          <a:xfrm>
            <a:off x="5905440" y="1486080"/>
            <a:ext cx="49525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Carúpano 21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ole"/>
          <p:cNvSpPr/>
          <p:nvPr/>
        </p:nvSpPr>
        <p:spPr>
          <a:xfrm>
            <a:off x="5905440" y="2362320"/>
            <a:ext cx="495252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FFFFF">
                    <a:alpha val="69000"/>
                  </a:srgbClr>
                </a:solidFill>
                <a:effectLst/>
                <a:uFillTx/>
                <a:latin typeface="Inter"/>
                <a:ea typeface="Inter"/>
              </a:rPr>
              <a:t>Complejidad, equilibrio y una entrada natural al lujo de alta gama.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line"/>
          <p:cNvSpPr/>
          <p:nvPr/>
        </p:nvSpPr>
        <p:spPr>
          <a:xfrm>
            <a:off x="5905440" y="3600360"/>
            <a:ext cx="5143320" cy="9000"/>
          </a:xfrm>
          <a:prstGeom prst="rect">
            <a:avLst/>
          </a:prstGeom>
          <a:solidFill>
            <a:srgbClr val="FFFFFF">
              <a:alpha val="1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ge"/>
          <p:cNvSpPr/>
          <p:nvPr/>
        </p:nvSpPr>
        <p:spPr>
          <a:xfrm>
            <a:off x="5905440" y="3905280"/>
            <a:ext cx="21902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HASTA 21 AÑOS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abv"/>
          <p:cNvSpPr/>
          <p:nvPr/>
        </p:nvSpPr>
        <p:spPr>
          <a:xfrm>
            <a:off x="8858160" y="390528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40° G.L.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notes"/>
          <p:cNvSpPr/>
          <p:nvPr/>
        </p:nvSpPr>
        <p:spPr>
          <a:xfrm>
            <a:off x="5905440" y="4629240"/>
            <a:ext cx="49525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FFFFFF">
                    <a:alpha val="56000"/>
                  </a:srgbClr>
                </a:solidFill>
                <a:effectLst/>
                <a:uFillTx/>
                <a:latin typeface="Inter"/>
                <a:ea typeface="Inter"/>
              </a:rPr>
              <a:t>Frutos rojos · sarrapia · madera · café · chocolate negro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09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ARQUITECTURA DE PORTAFOLIO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itle"/>
          <p:cNvSpPr/>
          <p:nvPr/>
        </p:nvSpPr>
        <p:spPr>
          <a:xfrm>
            <a:off x="685800" y="1123920"/>
            <a:ext cx="7048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Cada expresión ocupa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 lugar reconocible.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1"/>
          <a:stretch/>
        </p:blipFill>
        <p:spPr>
          <a:xfrm>
            <a:off x="743040" y="2984040"/>
            <a:ext cx="1809360" cy="231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age0"/>
          <p:cNvSpPr/>
          <p:nvPr/>
        </p:nvSpPr>
        <p:spPr>
          <a:xfrm>
            <a:off x="743040" y="5524560"/>
            <a:ext cx="1809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ier0"/>
          <p:cNvSpPr/>
          <p:nvPr/>
        </p:nvSpPr>
        <p:spPr>
          <a:xfrm>
            <a:off x="743040" y="584820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Entrada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2"/>
          <a:stretch/>
        </p:blipFill>
        <p:spPr>
          <a:xfrm>
            <a:off x="3505320" y="2984040"/>
            <a:ext cx="1809360" cy="231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age1"/>
          <p:cNvSpPr/>
          <p:nvPr/>
        </p:nvSpPr>
        <p:spPr>
          <a:xfrm>
            <a:off x="3505320" y="5524560"/>
            <a:ext cx="1809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12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ier1"/>
          <p:cNvSpPr/>
          <p:nvPr/>
        </p:nvSpPr>
        <p:spPr>
          <a:xfrm>
            <a:off x="3505320" y="584820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Premium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/>
          <p:cNvPicPr/>
          <p:nvPr/>
        </p:nvPicPr>
        <p:blipFill>
          <a:blip r:embed="rId3"/>
          <a:stretch/>
        </p:blipFill>
        <p:spPr>
          <a:xfrm>
            <a:off x="6267600" y="2984040"/>
            <a:ext cx="1809360" cy="231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age2"/>
          <p:cNvSpPr/>
          <p:nvPr/>
        </p:nvSpPr>
        <p:spPr>
          <a:xfrm>
            <a:off x="6267600" y="5524560"/>
            <a:ext cx="1809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ier2"/>
          <p:cNvSpPr/>
          <p:nvPr/>
        </p:nvSpPr>
        <p:spPr>
          <a:xfrm>
            <a:off x="6267600" y="584820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Súper-premium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4"/>
          <a:stretch/>
        </p:blipFill>
        <p:spPr>
          <a:xfrm>
            <a:off x="9029880" y="2984040"/>
            <a:ext cx="1809360" cy="231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age3"/>
          <p:cNvSpPr/>
          <p:nvPr/>
        </p:nvSpPr>
        <p:spPr>
          <a:xfrm>
            <a:off x="9029880" y="5524560"/>
            <a:ext cx="1809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ier3"/>
          <p:cNvSpPr/>
          <p:nvPr/>
        </p:nvSpPr>
        <p:spPr>
          <a:xfrm>
            <a:off x="9029880" y="5848200"/>
            <a:ext cx="1809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Ultra-premium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cale"/>
          <p:cNvSpPr/>
          <p:nvPr/>
        </p:nvSpPr>
        <p:spPr>
          <a:xfrm>
            <a:off x="1181160" y="5276880"/>
            <a:ext cx="9143640" cy="1872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5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10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itle"/>
          <p:cNvSpPr/>
          <p:nvPr/>
        </p:nvSpPr>
        <p:spPr>
          <a:xfrm>
            <a:off x="685800" y="876240"/>
            <a:ext cx="7143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Tres razones para creer.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num0"/>
          <p:cNvSpPr/>
          <p:nvPr/>
        </p:nvSpPr>
        <p:spPr>
          <a:xfrm>
            <a:off x="685800" y="2095560"/>
            <a:ext cx="6663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ule0"/>
          <p:cNvSpPr/>
          <p:nvPr/>
        </p:nvSpPr>
        <p:spPr>
          <a:xfrm>
            <a:off x="685800" y="2629080"/>
            <a:ext cx="2857320" cy="1872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head0"/>
          <p:cNvSpPr/>
          <p:nvPr/>
        </p:nvSpPr>
        <p:spPr>
          <a:xfrm>
            <a:off x="685800" y="293364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Origen vivo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body0"/>
          <p:cNvSpPr/>
          <p:nvPr/>
        </p:nvSpPr>
        <p:spPr>
          <a:xfrm>
            <a:off x="685800" y="3943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Hacienda Altamira y una historia que comenzó en 1762.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num1"/>
          <p:cNvSpPr/>
          <p:nvPr/>
        </p:nvSpPr>
        <p:spPr>
          <a:xfrm>
            <a:off x="4305240" y="2095560"/>
            <a:ext cx="6663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ule1"/>
          <p:cNvSpPr/>
          <p:nvPr/>
        </p:nvSpPr>
        <p:spPr>
          <a:xfrm>
            <a:off x="4305240" y="2629080"/>
            <a:ext cx="2857320" cy="18720"/>
          </a:xfrm>
          <a:prstGeom prst="rect">
            <a:avLst/>
          </a:prstGeom>
          <a:solidFill>
            <a:srgbClr val="A64B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head1"/>
          <p:cNvSpPr/>
          <p:nvPr/>
        </p:nvSpPr>
        <p:spPr>
          <a:xfrm>
            <a:off x="4305240" y="293364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Clima que transforma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ody1"/>
          <p:cNvSpPr/>
          <p:nvPr/>
        </p:nvSpPr>
        <p:spPr>
          <a:xfrm>
            <a:off x="4305240" y="3943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Calor y humedad aceleran el diálogo entre ron y madera.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num2"/>
          <p:cNvSpPr/>
          <p:nvPr/>
        </p:nvSpPr>
        <p:spPr>
          <a:xfrm>
            <a:off x="7924680" y="2095560"/>
            <a:ext cx="6663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ule2"/>
          <p:cNvSpPr/>
          <p:nvPr/>
        </p:nvSpPr>
        <p:spPr>
          <a:xfrm>
            <a:off x="7924680" y="2629080"/>
            <a:ext cx="2857320" cy="1872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head2"/>
          <p:cNvSpPr/>
          <p:nvPr/>
        </p:nvSpPr>
        <p:spPr>
          <a:xfrm>
            <a:off x="7924680" y="2933640"/>
            <a:ext cx="2857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Maestría de mezcla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body2"/>
          <p:cNvSpPr/>
          <p:nvPr/>
        </p:nvSpPr>
        <p:spPr>
          <a:xfrm>
            <a:off x="7924680" y="3943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Selección y criterio convierten complejidad en equilibrio.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11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rcRect l="0" t="4903" r="0" b="4903"/>
          <a:stretch/>
        </p:blipFill>
        <p:spPr>
          <a:xfrm>
            <a:off x="685800" y="895320"/>
            <a:ext cx="380952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quote"/>
          <p:cNvSpPr/>
          <p:nvPr/>
        </p:nvSpPr>
        <p:spPr>
          <a:xfrm>
            <a:off x="5219640" y="1467000"/>
            <a:ext cx="5714640" cy="20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8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“La sofisticación se demuestra en el criterio, no en el exceso.”</a:t>
            </a:r>
            <a:endParaRPr lang="en-US" sz="3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ule"/>
          <p:cNvSpPr/>
          <p:nvPr/>
        </p:nvSpPr>
        <p:spPr>
          <a:xfrm>
            <a:off x="5219640" y="3905280"/>
            <a:ext cx="933120" cy="2808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ource"/>
          <p:cNvSpPr/>
          <p:nvPr/>
        </p:nvSpPr>
        <p:spPr>
          <a:xfrm>
            <a:off x="5219640" y="4172040"/>
            <a:ext cx="39049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PRINCIPIO DE COMUNICACIÓN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usage"/>
          <p:cNvSpPr/>
          <p:nvPr/>
        </p:nvSpPr>
        <p:spPr>
          <a:xfrm>
            <a:off x="5219640" y="4838760"/>
            <a:ext cx="49525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Ideal para manifiestos, testimonios y citas que necesitan peso editorial.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73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12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eyebrow"/>
          <p:cNvSpPr/>
          <p:nvPr/>
        </p:nvSpPr>
        <p:spPr>
          <a:xfrm>
            <a:off x="685800" y="8762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RESULTADOS / INDICADORES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itle"/>
          <p:cNvSpPr/>
          <p:nvPr/>
        </p:nvSpPr>
        <p:spPr>
          <a:xfrm>
            <a:off x="685800" y="1371600"/>
            <a:ext cx="6476760" cy="12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Los datos necesitan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lectura clara.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v0"/>
          <p:cNvSpPr/>
          <p:nvPr/>
        </p:nvSpPr>
        <p:spPr>
          <a:xfrm>
            <a:off x="68580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01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l0"/>
          <p:cNvSpPr/>
          <p:nvPr/>
        </p:nvSpPr>
        <p:spPr>
          <a:xfrm>
            <a:off x="68580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Indicador principal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0"/>
          <p:cNvSpPr/>
          <p:nvPr/>
        </p:nvSpPr>
        <p:spPr>
          <a:xfrm>
            <a:off x="68580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v1"/>
          <p:cNvSpPr/>
          <p:nvPr/>
        </p:nvSpPr>
        <p:spPr>
          <a:xfrm>
            <a:off x="421020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02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l1"/>
          <p:cNvSpPr/>
          <p:nvPr/>
        </p:nvSpPr>
        <p:spPr>
          <a:xfrm>
            <a:off x="421020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Indicador de apoyo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1"/>
          <p:cNvSpPr/>
          <p:nvPr/>
        </p:nvSpPr>
        <p:spPr>
          <a:xfrm>
            <a:off x="421020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v2"/>
          <p:cNvSpPr/>
          <p:nvPr/>
        </p:nvSpPr>
        <p:spPr>
          <a:xfrm>
            <a:off x="773424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03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l2"/>
          <p:cNvSpPr/>
          <p:nvPr/>
        </p:nvSpPr>
        <p:spPr>
          <a:xfrm>
            <a:off x="773424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Señal de avance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2"/>
          <p:cNvSpPr/>
          <p:nvPr/>
        </p:nvSpPr>
        <p:spPr>
          <a:xfrm>
            <a:off x="773424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13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GRÁFICO EDITABLE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itle"/>
          <p:cNvSpPr/>
          <p:nvPr/>
        </p:nvSpPr>
        <p:spPr>
          <a:xfrm>
            <a:off x="685800" y="1047600"/>
            <a:ext cx="53337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La evolución se entiende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de un vistazo.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body"/>
          <p:cNvSpPr/>
          <p:nvPr/>
        </p:nvSpPr>
        <p:spPr>
          <a:xfrm>
            <a:off x="685800" y="2457360"/>
            <a:ext cx="42858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Reemplaza categorías y valores. Usa el dorado para la señal principal y el gris para la referencia.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axis"/>
          <p:cNvSpPr/>
          <p:nvPr/>
        </p:nvSpPr>
        <p:spPr>
          <a:xfrm>
            <a:off x="5905440" y="5429160"/>
            <a:ext cx="5238360" cy="1872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bar-a-0"/>
          <p:cNvSpPr/>
          <p:nvPr/>
        </p:nvSpPr>
        <p:spPr>
          <a:xfrm>
            <a:off x="6191280" y="3828960"/>
            <a:ext cx="399600" cy="159984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bar-b-0"/>
          <p:cNvSpPr/>
          <p:nvPr/>
        </p:nvSpPr>
        <p:spPr>
          <a:xfrm>
            <a:off x="6629400" y="3981600"/>
            <a:ext cx="399600" cy="144756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at-0"/>
          <p:cNvSpPr/>
          <p:nvPr/>
        </p:nvSpPr>
        <p:spPr>
          <a:xfrm>
            <a:off x="6191280" y="5581800"/>
            <a:ext cx="856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val-0"/>
          <p:cNvSpPr/>
          <p:nvPr/>
        </p:nvSpPr>
        <p:spPr>
          <a:xfrm>
            <a:off x="6191280" y="3562200"/>
            <a:ext cx="39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42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bar-a-1"/>
          <p:cNvSpPr/>
          <p:nvPr/>
        </p:nvSpPr>
        <p:spPr>
          <a:xfrm>
            <a:off x="7429680" y="3333600"/>
            <a:ext cx="399600" cy="209520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bar-b-1"/>
          <p:cNvSpPr/>
          <p:nvPr/>
        </p:nvSpPr>
        <p:spPr>
          <a:xfrm>
            <a:off x="7867800" y="3753000"/>
            <a:ext cx="399600" cy="167616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t-1"/>
          <p:cNvSpPr/>
          <p:nvPr/>
        </p:nvSpPr>
        <p:spPr>
          <a:xfrm>
            <a:off x="7429680" y="5581800"/>
            <a:ext cx="856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val-1"/>
          <p:cNvSpPr/>
          <p:nvPr/>
        </p:nvSpPr>
        <p:spPr>
          <a:xfrm>
            <a:off x="7429680" y="3067200"/>
            <a:ext cx="39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55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bar-a-2"/>
          <p:cNvSpPr/>
          <p:nvPr/>
        </p:nvSpPr>
        <p:spPr>
          <a:xfrm>
            <a:off x="8667720" y="2914560"/>
            <a:ext cx="399600" cy="251424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bar-b-2"/>
          <p:cNvSpPr/>
          <p:nvPr/>
        </p:nvSpPr>
        <p:spPr>
          <a:xfrm>
            <a:off x="9105840" y="3486240"/>
            <a:ext cx="399600" cy="194292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t-2"/>
          <p:cNvSpPr/>
          <p:nvPr/>
        </p:nvSpPr>
        <p:spPr>
          <a:xfrm>
            <a:off x="8667720" y="5581800"/>
            <a:ext cx="856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val-2"/>
          <p:cNvSpPr/>
          <p:nvPr/>
        </p:nvSpPr>
        <p:spPr>
          <a:xfrm>
            <a:off x="8667720" y="2647800"/>
            <a:ext cx="39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66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bar-a-3"/>
          <p:cNvSpPr/>
          <p:nvPr/>
        </p:nvSpPr>
        <p:spPr>
          <a:xfrm>
            <a:off x="9906120" y="2305080"/>
            <a:ext cx="399600" cy="312372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bar-b-3"/>
          <p:cNvSpPr/>
          <p:nvPr/>
        </p:nvSpPr>
        <p:spPr>
          <a:xfrm>
            <a:off x="10344240" y="3219480"/>
            <a:ext cx="399600" cy="220932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t-3"/>
          <p:cNvSpPr/>
          <p:nvPr/>
        </p:nvSpPr>
        <p:spPr>
          <a:xfrm>
            <a:off x="9906120" y="5581800"/>
            <a:ext cx="856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T4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val-3"/>
          <p:cNvSpPr/>
          <p:nvPr/>
        </p:nvSpPr>
        <p:spPr>
          <a:xfrm>
            <a:off x="9906120" y="2038320"/>
            <a:ext cx="399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82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legend-a"/>
          <p:cNvSpPr/>
          <p:nvPr/>
        </p:nvSpPr>
        <p:spPr>
          <a:xfrm>
            <a:off x="6191280" y="114300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MARCA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legend-b"/>
          <p:cNvSpPr/>
          <p:nvPr/>
        </p:nvSpPr>
        <p:spPr>
          <a:xfrm>
            <a:off x="7524720" y="1143000"/>
            <a:ext cx="1428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REFERENCIA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14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itle"/>
          <p:cNvSpPr/>
          <p:nvPr/>
        </p:nvSpPr>
        <p:spPr>
          <a:xfrm>
            <a:off x="685800" y="895320"/>
            <a:ext cx="571464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Dos caminos.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Una decisión.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ol0"/>
          <p:cNvSpPr/>
          <p:nvPr/>
        </p:nvSpPr>
        <p:spPr>
          <a:xfrm>
            <a:off x="685800" y="2571840"/>
            <a:ext cx="4857480" cy="3047760"/>
          </a:xfrm>
          <a:prstGeom prst="roundRect">
            <a:avLst>
              <a:gd name="adj" fmla="val 5000"/>
            </a:avLst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lab0"/>
          <p:cNvSpPr/>
          <p:nvPr/>
        </p:nvSpPr>
        <p:spPr>
          <a:xfrm>
            <a:off x="1009800" y="2838600"/>
            <a:ext cx="20952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OPCIÓN 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head0"/>
          <p:cNvSpPr/>
          <p:nvPr/>
        </p:nvSpPr>
        <p:spPr>
          <a:xfrm>
            <a:off x="1009800" y="3390840"/>
            <a:ext cx="4000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Profundizar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opy0"/>
          <p:cNvSpPr/>
          <p:nvPr/>
        </p:nvSpPr>
        <p:spPr>
          <a:xfrm>
            <a:off x="1009800" y="4248000"/>
            <a:ext cx="390492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>
                    <a:alpha val="66000"/>
                  </a:srgbClr>
                </a:solidFill>
                <a:effectLst/>
                <a:uFillTx/>
                <a:latin typeface="Inter"/>
                <a:ea typeface="Inter"/>
              </a:rPr>
              <a:t>Concentrar inversión en los territorios de mayor autoridad y valor percibido.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ol1"/>
          <p:cNvSpPr/>
          <p:nvPr/>
        </p:nvSpPr>
        <p:spPr>
          <a:xfrm>
            <a:off x="6191280" y="2571840"/>
            <a:ext cx="4857480" cy="3047760"/>
          </a:xfrm>
          <a:prstGeom prst="roundRect">
            <a:avLst>
              <a:gd name="adj" fmla="val 5000"/>
            </a:avLst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lab1"/>
          <p:cNvSpPr/>
          <p:nvPr/>
        </p:nvSpPr>
        <p:spPr>
          <a:xfrm>
            <a:off x="6515280" y="2838600"/>
            <a:ext cx="20952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OPCIÓN B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head1"/>
          <p:cNvSpPr/>
          <p:nvPr/>
        </p:nvSpPr>
        <p:spPr>
          <a:xfrm>
            <a:off x="6515280" y="3390840"/>
            <a:ext cx="4000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Expandir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opy1"/>
          <p:cNvSpPr/>
          <p:nvPr/>
        </p:nvSpPr>
        <p:spPr>
          <a:xfrm>
            <a:off x="6515280" y="4248000"/>
            <a:ext cx="390492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0C0A">
                    <a:alpha val="72000"/>
                  </a:srgbClr>
                </a:solidFill>
                <a:effectLst/>
                <a:uFillTx/>
                <a:latin typeface="Inter"/>
                <a:ea typeface="Inter"/>
              </a:rPr>
              <a:t>Abrir nuevas ocasiones y audiencias manteniendo la coherencia del sistema.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15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itle"/>
          <p:cNvSpPr/>
          <p:nvPr/>
        </p:nvSpPr>
        <p:spPr>
          <a:xfrm>
            <a:off x="685800" y="857160"/>
            <a:ext cx="647676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De la reserva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a la experiencia.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imeline"/>
          <p:cNvSpPr/>
          <p:nvPr/>
        </p:nvSpPr>
        <p:spPr>
          <a:xfrm>
            <a:off x="1190520" y="3286080"/>
            <a:ext cx="9810360" cy="2808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dot0"/>
          <p:cNvSpPr/>
          <p:nvPr/>
        </p:nvSpPr>
        <p:spPr>
          <a:xfrm>
            <a:off x="1219320" y="3048120"/>
            <a:ext cx="456840" cy="456840"/>
          </a:xfrm>
          <a:prstGeom prst="roundRect">
            <a:avLst>
              <a:gd name="adj" fmla="val 50000"/>
            </a:avLst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n0"/>
          <p:cNvSpPr/>
          <p:nvPr/>
        </p:nvSpPr>
        <p:spPr>
          <a:xfrm>
            <a:off x="1219320" y="3048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h0"/>
          <p:cNvSpPr/>
          <p:nvPr/>
        </p:nvSpPr>
        <p:spPr>
          <a:xfrm>
            <a:off x="685800" y="3828960"/>
            <a:ext cx="1523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Seleccionar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b0"/>
          <p:cNvSpPr/>
          <p:nvPr/>
        </p:nvSpPr>
        <p:spPr>
          <a:xfrm>
            <a:off x="685800" y="4457880"/>
            <a:ext cx="15235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Una frase explica el momento y su valor.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dot1"/>
          <p:cNvSpPr/>
          <p:nvPr/>
        </p:nvSpPr>
        <p:spPr>
          <a:xfrm>
            <a:off x="4000680" y="3048120"/>
            <a:ext cx="456840" cy="456840"/>
          </a:xfrm>
          <a:prstGeom prst="roundRect">
            <a:avLst>
              <a:gd name="adj" fmla="val 50000"/>
            </a:avLst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n1"/>
          <p:cNvSpPr/>
          <p:nvPr/>
        </p:nvSpPr>
        <p:spPr>
          <a:xfrm>
            <a:off x="4000680" y="3048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h1"/>
          <p:cNvSpPr/>
          <p:nvPr/>
        </p:nvSpPr>
        <p:spPr>
          <a:xfrm>
            <a:off x="3467160" y="3828960"/>
            <a:ext cx="1523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Mezclar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b1"/>
          <p:cNvSpPr/>
          <p:nvPr/>
        </p:nvSpPr>
        <p:spPr>
          <a:xfrm>
            <a:off x="3467160" y="4457880"/>
            <a:ext cx="15235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Una frase explica el momento y su valor.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dot2"/>
          <p:cNvSpPr/>
          <p:nvPr/>
        </p:nvSpPr>
        <p:spPr>
          <a:xfrm>
            <a:off x="6781680" y="3048120"/>
            <a:ext cx="456840" cy="456840"/>
          </a:xfrm>
          <a:prstGeom prst="roundRect">
            <a:avLst>
              <a:gd name="adj" fmla="val 50000"/>
            </a:avLst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n2"/>
          <p:cNvSpPr/>
          <p:nvPr/>
        </p:nvSpPr>
        <p:spPr>
          <a:xfrm>
            <a:off x="6781680" y="3048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h2"/>
          <p:cNvSpPr/>
          <p:nvPr/>
        </p:nvSpPr>
        <p:spPr>
          <a:xfrm>
            <a:off x="6248520" y="3828960"/>
            <a:ext cx="1523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Reposar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b2"/>
          <p:cNvSpPr/>
          <p:nvPr/>
        </p:nvSpPr>
        <p:spPr>
          <a:xfrm>
            <a:off x="6248520" y="4457880"/>
            <a:ext cx="15235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Una frase explica el momento y su valor.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dot3"/>
          <p:cNvSpPr/>
          <p:nvPr/>
        </p:nvSpPr>
        <p:spPr>
          <a:xfrm>
            <a:off x="9563040" y="3048120"/>
            <a:ext cx="456840" cy="456840"/>
          </a:xfrm>
          <a:prstGeom prst="roundRect">
            <a:avLst>
              <a:gd name="adj" fmla="val 50000"/>
            </a:avLst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n3"/>
          <p:cNvSpPr/>
          <p:nvPr/>
        </p:nvSpPr>
        <p:spPr>
          <a:xfrm>
            <a:off x="9563040" y="3048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04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h3"/>
          <p:cNvSpPr/>
          <p:nvPr/>
        </p:nvSpPr>
        <p:spPr>
          <a:xfrm>
            <a:off x="9029880" y="3828960"/>
            <a:ext cx="15235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Servir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b3"/>
          <p:cNvSpPr/>
          <p:nvPr/>
        </p:nvSpPr>
        <p:spPr>
          <a:xfrm>
            <a:off x="9029880" y="4457880"/>
            <a:ext cx="152352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Una frase explica el momento y su valor.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"/>
          <p:cNvPicPr/>
          <p:nvPr/>
        </p:nvPicPr>
        <p:blipFill>
          <a:blip r:embed="rId1"/>
          <a:stretch/>
        </p:blipFill>
        <p:spPr>
          <a:xfrm>
            <a:off x="6853680" y="0"/>
            <a:ext cx="45802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veil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00C0A">
              <a:alpha val="47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eyebrow"/>
          <p:cNvSpPr/>
          <p:nvPr/>
        </p:nvSpPr>
        <p:spPr>
          <a:xfrm>
            <a:off x="685800" y="6858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KEY VISUAL DE OCASIÓN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itle"/>
          <p:cNvSpPr/>
          <p:nvPr/>
        </p:nvSpPr>
        <p:spPr>
          <a:xfrm>
            <a:off x="685800" y="2000160"/>
            <a:ext cx="6857640" cy="16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La noche también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tiene profundidad.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ignature"/>
          <p:cNvSpPr/>
          <p:nvPr/>
        </p:nvSpPr>
        <p:spPr>
          <a:xfrm>
            <a:off x="723960" y="5048280"/>
            <a:ext cx="49525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CARÚPANO 21 · COCTELERÍA DE AUTOR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ule"/>
          <p:cNvSpPr/>
          <p:nvPr/>
        </p:nvSpPr>
        <p:spPr>
          <a:xfrm>
            <a:off x="723960" y="5543640"/>
            <a:ext cx="2095200" cy="2808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6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17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eyebrow"/>
          <p:cNvSpPr/>
          <p:nvPr/>
        </p:nvSpPr>
        <p:spPr>
          <a:xfrm>
            <a:off x="685800" y="7430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SISTEMA SOCIAL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itle"/>
          <p:cNvSpPr/>
          <p:nvPr/>
        </p:nvSpPr>
        <p:spPr>
          <a:xfrm>
            <a:off x="685800" y="1162080"/>
            <a:ext cx="52383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grilla con ritmo,</a:t>
            </a:r>
            <a:endParaRPr lang="en-US" sz="3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no piezas aisladas.</a:t>
            </a:r>
            <a:endParaRPr lang="en-US" sz="3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c0"/>
          <p:cNvSpPr/>
          <p:nvPr/>
        </p:nvSpPr>
        <p:spPr>
          <a:xfrm>
            <a:off x="6191280" y="876240"/>
            <a:ext cx="2095200" cy="2095200"/>
          </a:xfrm>
          <a:prstGeom prst="rect">
            <a:avLst/>
          </a:prstGeom>
          <a:solidFill>
            <a:srgbClr val="A886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0"/>
          <p:cNvSpPr/>
          <p:nvPr/>
        </p:nvSpPr>
        <p:spPr>
          <a:xfrm>
            <a:off x="6362640" y="10476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PRODUCTO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h0"/>
          <p:cNvSpPr/>
          <p:nvPr/>
        </p:nvSpPr>
        <p:spPr>
          <a:xfrm>
            <a:off x="6362640" y="1590840"/>
            <a:ext cx="1714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21 años de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profundidad.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c1"/>
          <p:cNvSpPr/>
          <p:nvPr/>
        </p:nvSpPr>
        <p:spPr>
          <a:xfrm>
            <a:off x="8572680" y="876240"/>
            <a:ext cx="2095200" cy="2095200"/>
          </a:xfrm>
          <a:prstGeom prst="rect">
            <a:avLst/>
          </a:prstGeom>
          <a:solidFill>
            <a:srgbClr val="F3E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1"/>
          <p:cNvSpPr/>
          <p:nvPr/>
        </p:nvSpPr>
        <p:spPr>
          <a:xfrm>
            <a:off x="8744040" y="104760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A64B24"/>
                </a:solidFill>
                <a:effectLst/>
                <a:uFillTx/>
                <a:latin typeface="Inter"/>
                <a:ea typeface="Inter"/>
              </a:rPr>
              <a:t>CULTURA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h1"/>
          <p:cNvSpPr/>
          <p:nvPr/>
        </p:nvSpPr>
        <p:spPr>
          <a:xfrm>
            <a:off x="8744040" y="1590840"/>
            <a:ext cx="1714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El clima también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destila carácter.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c2"/>
          <p:cNvSpPr/>
          <p:nvPr/>
        </p:nvSpPr>
        <p:spPr>
          <a:xfrm>
            <a:off x="6191280" y="3219480"/>
            <a:ext cx="2095200" cy="2095200"/>
          </a:xfrm>
          <a:prstGeom prst="rect">
            <a:avLst/>
          </a:prstGeom>
          <a:solidFill>
            <a:srgbClr val="A64B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2"/>
          <p:cNvSpPr/>
          <p:nvPr/>
        </p:nvSpPr>
        <p:spPr>
          <a:xfrm>
            <a:off x="6362640" y="339084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OCASIÓN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h2"/>
          <p:cNvSpPr/>
          <p:nvPr/>
        </p:nvSpPr>
        <p:spPr>
          <a:xfrm>
            <a:off x="6362640" y="3933720"/>
            <a:ext cx="1714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La noche tiene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otra dimensión.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c3"/>
          <p:cNvSpPr/>
          <p:nvPr/>
        </p:nvSpPr>
        <p:spPr>
          <a:xfrm>
            <a:off x="8572680" y="3219480"/>
            <a:ext cx="2095200" cy="2095200"/>
          </a:xfrm>
          <a:prstGeom prst="rect">
            <a:avLst/>
          </a:prstGeom>
          <a:solidFill>
            <a:srgbClr val="2B1B1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3"/>
          <p:cNvSpPr/>
          <p:nvPr/>
        </p:nvSpPr>
        <p:spPr>
          <a:xfrm>
            <a:off x="8744040" y="3390840"/>
            <a:ext cx="161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RITUAL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h3"/>
          <p:cNvSpPr/>
          <p:nvPr/>
        </p:nvSpPr>
        <p:spPr>
          <a:xfrm>
            <a:off x="8744040" y="3933720"/>
            <a:ext cx="1714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El tiempo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se sirve.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body"/>
          <p:cNvSpPr/>
          <p:nvPr/>
        </p:nvSpPr>
        <p:spPr>
          <a:xfrm>
            <a:off x="685800" y="3105000"/>
            <a:ext cx="457164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0" u="none" strike="noStrike">
                <a:solidFill>
                  <a:srgbClr val="FFFFFF">
                    <a:alpha val="63000"/>
                  </a:srgbClr>
                </a:solidFill>
                <a:effectLst/>
                <a:uFillTx/>
                <a:latin typeface="Inter"/>
                <a:ea typeface="Inter"/>
              </a:rPr>
              <a:t>Combina producto, cultura, ocasión y ritual. Mantén una firma estable y cambia la intensidad visual.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atio"/>
          <p:cNvSpPr/>
          <p:nvPr/>
        </p:nvSpPr>
        <p:spPr>
          <a:xfrm>
            <a:off x="685800" y="4952880"/>
            <a:ext cx="4762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40% producto  ·  20% cultura  ·  20% ocasión  ·  20% ritual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18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PLAN / RESPONSABLES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itle"/>
          <p:cNvSpPr/>
          <p:nvPr/>
        </p:nvSpPr>
        <p:spPr>
          <a:xfrm>
            <a:off x="685800" y="1066680"/>
            <a:ext cx="61909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El siguiente paso debe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quedar inequívoco.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able-head"/>
          <p:cNvSpPr/>
          <p:nvPr/>
        </p:nvSpPr>
        <p:spPr>
          <a:xfrm>
            <a:off x="685800" y="2857680"/>
            <a:ext cx="10820160" cy="523440"/>
          </a:xfrm>
          <a:prstGeom prst="rect">
            <a:avLst/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cell-0-0"/>
          <p:cNvSpPr/>
          <p:nvPr/>
        </p:nvSpPr>
        <p:spPr>
          <a:xfrm>
            <a:off x="819000" y="2857680"/>
            <a:ext cx="34477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PRIORIDAD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ell-0-1"/>
          <p:cNvSpPr/>
          <p:nvPr/>
        </p:nvSpPr>
        <p:spPr>
          <a:xfrm>
            <a:off x="4533840" y="2857680"/>
            <a:ext cx="24951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RESPONSABLE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ell-0-2"/>
          <p:cNvSpPr/>
          <p:nvPr/>
        </p:nvSpPr>
        <p:spPr>
          <a:xfrm>
            <a:off x="7296120" y="2857680"/>
            <a:ext cx="154260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FECHA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ell-0-3"/>
          <p:cNvSpPr/>
          <p:nvPr/>
        </p:nvSpPr>
        <p:spPr>
          <a:xfrm>
            <a:off x="9105840" y="2857680"/>
            <a:ext cx="22665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ESTADO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w-bg-1"/>
          <p:cNvSpPr/>
          <p:nvPr/>
        </p:nvSpPr>
        <p:spPr>
          <a:xfrm>
            <a:off x="685800" y="3476520"/>
            <a:ext cx="10820160" cy="609120"/>
          </a:xfrm>
          <a:prstGeom prst="rect">
            <a:avLst/>
          </a:prstGeom>
          <a:solidFill>
            <a:srgbClr val="F3E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ell-1-0"/>
          <p:cNvSpPr/>
          <p:nvPr/>
        </p:nvSpPr>
        <p:spPr>
          <a:xfrm>
            <a:off x="819000" y="3476520"/>
            <a:ext cx="34477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Definir alcance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ell-1-1"/>
          <p:cNvSpPr/>
          <p:nvPr/>
        </p:nvSpPr>
        <p:spPr>
          <a:xfrm>
            <a:off x="4533840" y="3476520"/>
            <a:ext cx="24951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Nombre / área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ell-1-2"/>
          <p:cNvSpPr/>
          <p:nvPr/>
        </p:nvSpPr>
        <p:spPr>
          <a:xfrm>
            <a:off x="7296120" y="3476520"/>
            <a:ext cx="154260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00.00.00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cell-1-3"/>
          <p:cNvSpPr/>
          <p:nvPr/>
        </p:nvSpPr>
        <p:spPr>
          <a:xfrm>
            <a:off x="9105840" y="3476520"/>
            <a:ext cx="22665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Por iniciar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ow-line-1"/>
          <p:cNvSpPr/>
          <p:nvPr/>
        </p:nvSpPr>
        <p:spPr>
          <a:xfrm>
            <a:off x="685800" y="4076640"/>
            <a:ext cx="108201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ow-bg-2"/>
          <p:cNvSpPr/>
          <p:nvPr/>
        </p:nvSpPr>
        <p:spPr>
          <a:xfrm>
            <a:off x="685800" y="4095720"/>
            <a:ext cx="10820160" cy="609120"/>
          </a:xfrm>
          <a:prstGeom prst="rect">
            <a:avLst/>
          </a:prstGeom>
          <a:solidFill>
            <a:srgbClr val="FBF8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ell-2-0"/>
          <p:cNvSpPr/>
          <p:nvPr/>
        </p:nvSpPr>
        <p:spPr>
          <a:xfrm>
            <a:off x="819000" y="4095720"/>
            <a:ext cx="34477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Validar propuesta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ell-2-1"/>
          <p:cNvSpPr/>
          <p:nvPr/>
        </p:nvSpPr>
        <p:spPr>
          <a:xfrm>
            <a:off x="4533840" y="4095720"/>
            <a:ext cx="24951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Nombre / área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ell-2-2"/>
          <p:cNvSpPr/>
          <p:nvPr/>
        </p:nvSpPr>
        <p:spPr>
          <a:xfrm>
            <a:off x="7296120" y="4095720"/>
            <a:ext cx="154260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00.00.00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ell-2-3"/>
          <p:cNvSpPr/>
          <p:nvPr/>
        </p:nvSpPr>
        <p:spPr>
          <a:xfrm>
            <a:off x="9105840" y="4095720"/>
            <a:ext cx="22665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En curso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w-line-2"/>
          <p:cNvSpPr/>
          <p:nvPr/>
        </p:nvSpPr>
        <p:spPr>
          <a:xfrm>
            <a:off x="685800" y="4695840"/>
            <a:ext cx="108201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ow-bg-3"/>
          <p:cNvSpPr/>
          <p:nvPr/>
        </p:nvSpPr>
        <p:spPr>
          <a:xfrm>
            <a:off x="685800" y="4714920"/>
            <a:ext cx="10820160" cy="609120"/>
          </a:xfrm>
          <a:prstGeom prst="rect">
            <a:avLst/>
          </a:prstGeom>
          <a:solidFill>
            <a:srgbClr val="F3E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cell-3-0"/>
          <p:cNvSpPr/>
          <p:nvPr/>
        </p:nvSpPr>
        <p:spPr>
          <a:xfrm>
            <a:off x="819000" y="4714920"/>
            <a:ext cx="34477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Activar ejecución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ell-3-1"/>
          <p:cNvSpPr/>
          <p:nvPr/>
        </p:nvSpPr>
        <p:spPr>
          <a:xfrm>
            <a:off x="4533840" y="4714920"/>
            <a:ext cx="24951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Nombre / área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cell-3-2"/>
          <p:cNvSpPr/>
          <p:nvPr/>
        </p:nvSpPr>
        <p:spPr>
          <a:xfrm>
            <a:off x="7296120" y="4714920"/>
            <a:ext cx="154260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00.00.00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ell-3-3"/>
          <p:cNvSpPr/>
          <p:nvPr/>
        </p:nvSpPr>
        <p:spPr>
          <a:xfrm>
            <a:off x="9105840" y="4714920"/>
            <a:ext cx="22665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Próximo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w-line-3"/>
          <p:cNvSpPr/>
          <p:nvPr/>
        </p:nvSpPr>
        <p:spPr>
          <a:xfrm>
            <a:off x="685800" y="5315040"/>
            <a:ext cx="108201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19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itle"/>
          <p:cNvSpPr/>
          <p:nvPr/>
        </p:nvSpPr>
        <p:spPr>
          <a:xfrm>
            <a:off x="685800" y="876240"/>
            <a:ext cx="5714640" cy="9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Tres horizontes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para avanzar.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ag0"/>
          <p:cNvSpPr/>
          <p:nvPr/>
        </p:nvSpPr>
        <p:spPr>
          <a:xfrm>
            <a:off x="685800" y="247644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AHORA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head0"/>
          <p:cNvSpPr/>
          <p:nvPr/>
        </p:nvSpPr>
        <p:spPr>
          <a:xfrm>
            <a:off x="2095560" y="247644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Alinear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copy0"/>
          <p:cNvSpPr/>
          <p:nvPr/>
        </p:nvSpPr>
        <p:spPr>
          <a:xfrm>
            <a:off x="4667400" y="2476440"/>
            <a:ext cx="5524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Decisiones que desbloquean el trabajo.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line0"/>
          <p:cNvSpPr/>
          <p:nvPr/>
        </p:nvSpPr>
        <p:spPr>
          <a:xfrm>
            <a:off x="685800" y="306720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ag1"/>
          <p:cNvSpPr/>
          <p:nvPr/>
        </p:nvSpPr>
        <p:spPr>
          <a:xfrm>
            <a:off x="685800" y="361944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DESPUÉS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head1"/>
          <p:cNvSpPr/>
          <p:nvPr/>
        </p:nvSpPr>
        <p:spPr>
          <a:xfrm>
            <a:off x="2095560" y="361944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Activar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opy1"/>
          <p:cNvSpPr/>
          <p:nvPr/>
        </p:nvSpPr>
        <p:spPr>
          <a:xfrm>
            <a:off x="4667400" y="3619440"/>
            <a:ext cx="5524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Acciones que ponen la estrategia en movimiento.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line1"/>
          <p:cNvSpPr/>
          <p:nvPr/>
        </p:nvSpPr>
        <p:spPr>
          <a:xfrm>
            <a:off x="685800" y="421020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ag2"/>
          <p:cNvSpPr/>
          <p:nvPr/>
        </p:nvSpPr>
        <p:spPr>
          <a:xfrm>
            <a:off x="685800" y="476244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LUEGO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head2"/>
          <p:cNvSpPr/>
          <p:nvPr/>
        </p:nvSpPr>
        <p:spPr>
          <a:xfrm>
            <a:off x="2095560" y="476244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Escalar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copy2"/>
          <p:cNvSpPr/>
          <p:nvPr/>
        </p:nvSpPr>
        <p:spPr>
          <a:xfrm>
            <a:off x="4667400" y="4762440"/>
            <a:ext cx="5524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Capacidades que sostienen el crecimiento.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line2"/>
          <p:cNvSpPr/>
          <p:nvPr/>
        </p:nvSpPr>
        <p:spPr>
          <a:xfrm>
            <a:off x="685800" y="535320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20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SISTEMA TIPOGRÁFICO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itle"/>
          <p:cNvSpPr/>
          <p:nvPr/>
        </p:nvSpPr>
        <p:spPr>
          <a:xfrm>
            <a:off x="685800" y="990720"/>
            <a:ext cx="533376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Dos voces.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 solo carácter.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aramond"/>
          <p:cNvSpPr/>
          <p:nvPr/>
        </p:nvSpPr>
        <p:spPr>
          <a:xfrm>
            <a:off x="685800" y="2476440"/>
            <a:ext cx="447624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Adobe Garamond Pro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aramond-sample"/>
          <p:cNvSpPr/>
          <p:nvPr/>
        </p:nvSpPr>
        <p:spPr>
          <a:xfrm>
            <a:off x="685800" y="2914560"/>
            <a:ext cx="495252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El tiempo deja carácter.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aramond-use"/>
          <p:cNvSpPr/>
          <p:nvPr/>
        </p:nvSpPr>
        <p:spPr>
          <a:xfrm>
            <a:off x="685800" y="4095720"/>
            <a:ext cx="4667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Portadas · titulares · citas · campañas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divider"/>
          <p:cNvSpPr/>
          <p:nvPr/>
        </p:nvSpPr>
        <p:spPr>
          <a:xfrm>
            <a:off x="5905440" y="1123920"/>
            <a:ext cx="18720" cy="457164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inter"/>
          <p:cNvSpPr/>
          <p:nvPr/>
        </p:nvSpPr>
        <p:spPr>
          <a:xfrm>
            <a:off x="6572160" y="2476440"/>
            <a:ext cx="40953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Inter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inter-sample"/>
          <p:cNvSpPr/>
          <p:nvPr/>
        </p:nvSpPr>
        <p:spPr>
          <a:xfrm>
            <a:off x="6572160" y="2914560"/>
            <a:ext cx="4190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100C0A"/>
                </a:solidFill>
                <a:effectLst/>
                <a:uFillTx/>
                <a:latin typeface="Inter"/>
                <a:ea typeface="Inter"/>
              </a:rPr>
              <a:t>Claridad en cada punto de contacto.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inter-use"/>
          <p:cNvSpPr/>
          <p:nvPr/>
        </p:nvSpPr>
        <p:spPr>
          <a:xfrm>
            <a:off x="6572160" y="4095720"/>
            <a:ext cx="42858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Cuerpo · navegación · tablas · datos · documentos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ule"/>
          <p:cNvSpPr/>
          <p:nvPr/>
        </p:nvSpPr>
        <p:spPr>
          <a:xfrm>
            <a:off x="6572160" y="4952880"/>
            <a:ext cx="42858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A64B24"/>
                </a:solidFill>
                <a:effectLst/>
                <a:uFillTx/>
                <a:latin typeface="Inter"/>
                <a:ea typeface="Inter"/>
              </a:rPr>
              <a:t>No sustituir por Calibri. No mezclar familias adicionales.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21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eyebrow"/>
          <p:cNvSpPr/>
          <p:nvPr/>
        </p:nvSpPr>
        <p:spPr>
          <a:xfrm>
            <a:off x="685800" y="6858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DIRECCIÓN DE ARTE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itle"/>
          <p:cNvSpPr/>
          <p:nvPr/>
        </p:nvSpPr>
        <p:spPr>
          <a:xfrm>
            <a:off x="685800" y="1123920"/>
            <a:ext cx="590508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La imagen debe revelar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verdad de producto.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7" name=""/>
          <p:cNvPicPr/>
          <p:nvPr/>
        </p:nvPicPr>
        <p:blipFill>
          <a:blip r:embed="rId1"/>
          <a:srcRect l="0" t="20111" r="0" b="20111"/>
          <a:stretch/>
        </p:blipFill>
        <p:spPr>
          <a:xfrm>
            <a:off x="685800" y="2781360"/>
            <a:ext cx="3619080" cy="323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"/>
          <p:cNvPicPr/>
          <p:nvPr/>
        </p:nvPicPr>
        <p:blipFill>
          <a:blip r:embed="rId2"/>
          <a:srcRect l="0" t="12143" r="0" b="12143"/>
          <a:stretch/>
        </p:blipFill>
        <p:spPr>
          <a:xfrm>
            <a:off x="4476600" y="2781360"/>
            <a:ext cx="2857320" cy="323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"/>
          <p:cNvPicPr/>
          <p:nvPr/>
        </p:nvPicPr>
        <p:blipFill>
          <a:blip r:embed="rId3"/>
          <a:srcRect l="0" t="10729" r="0" b="10729"/>
          <a:stretch/>
        </p:blipFill>
        <p:spPr>
          <a:xfrm>
            <a:off x="7505640" y="1428840"/>
            <a:ext cx="3904920" cy="459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caption"/>
          <p:cNvSpPr/>
          <p:nvPr/>
        </p:nvSpPr>
        <p:spPr>
          <a:xfrm>
            <a:off x="7505640" y="6153120"/>
            <a:ext cx="390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ORIGEN · PRODUCTO · RITUAL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1" name=""/>
          <p:cNvPicPr/>
          <p:nvPr/>
        </p:nvPicPr>
        <p:blipFill>
          <a:blip r:embed="rId4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22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AGENDA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itle"/>
          <p:cNvSpPr/>
          <p:nvPr/>
        </p:nvSpPr>
        <p:spPr>
          <a:xfrm>
            <a:off x="685800" y="1028880"/>
            <a:ext cx="571464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Lo que necesitamos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resolver hoy.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a-n-0"/>
          <p:cNvSpPr/>
          <p:nvPr/>
        </p:nvSpPr>
        <p:spPr>
          <a:xfrm>
            <a:off x="685800" y="266688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a-h-0"/>
          <p:cNvSpPr/>
          <p:nvPr/>
        </p:nvSpPr>
        <p:spPr>
          <a:xfrm>
            <a:off x="1467000" y="2666880"/>
            <a:ext cx="2095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Contexto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a-b-0"/>
          <p:cNvSpPr/>
          <p:nvPr/>
        </p:nvSpPr>
        <p:spPr>
          <a:xfrm>
            <a:off x="3905280" y="2666880"/>
            <a:ext cx="5905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Qué cambió y por qué importa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a-l-0"/>
          <p:cNvSpPr/>
          <p:nvPr/>
        </p:nvSpPr>
        <p:spPr>
          <a:xfrm>
            <a:off x="685800" y="325764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a-n-1"/>
          <p:cNvSpPr/>
          <p:nvPr/>
        </p:nvSpPr>
        <p:spPr>
          <a:xfrm>
            <a:off x="685800" y="366696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a-h-1"/>
          <p:cNvSpPr/>
          <p:nvPr/>
        </p:nvSpPr>
        <p:spPr>
          <a:xfrm>
            <a:off x="1467000" y="3666960"/>
            <a:ext cx="2095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Decisión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a-b-1"/>
          <p:cNvSpPr/>
          <p:nvPr/>
        </p:nvSpPr>
        <p:spPr>
          <a:xfrm>
            <a:off x="3905280" y="3666960"/>
            <a:ext cx="5905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Qué debemos elegir o aprobar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a-l-1"/>
          <p:cNvSpPr/>
          <p:nvPr/>
        </p:nvSpPr>
        <p:spPr>
          <a:xfrm>
            <a:off x="685800" y="425772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a-n-2"/>
          <p:cNvSpPr/>
          <p:nvPr/>
        </p:nvSpPr>
        <p:spPr>
          <a:xfrm>
            <a:off x="685800" y="4667400"/>
            <a:ext cx="571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a-h-2"/>
          <p:cNvSpPr/>
          <p:nvPr/>
        </p:nvSpPr>
        <p:spPr>
          <a:xfrm>
            <a:off x="1467000" y="4667400"/>
            <a:ext cx="2095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Activación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a-b-2"/>
          <p:cNvSpPr/>
          <p:nvPr/>
        </p:nvSpPr>
        <p:spPr>
          <a:xfrm>
            <a:off x="3905280" y="4667400"/>
            <a:ext cx="5905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Quién hace qué y cuándo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a-l-2"/>
          <p:cNvSpPr/>
          <p:nvPr/>
        </p:nvSpPr>
        <p:spPr>
          <a:xfrm>
            <a:off x="685800" y="5257800"/>
            <a:ext cx="9810360" cy="9000"/>
          </a:xfrm>
          <a:prstGeom prst="rect">
            <a:avLst/>
          </a:prstGeom>
          <a:solidFill>
            <a:srgbClr val="D8CE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23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eyebrow"/>
          <p:cNvSpPr/>
          <p:nvPr/>
        </p:nvSpPr>
        <p:spPr>
          <a:xfrm>
            <a:off x="685800" y="7812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EQUIPO / GOBERNANZA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itle"/>
          <p:cNvSpPr/>
          <p:nvPr/>
        </p:nvSpPr>
        <p:spPr>
          <a:xfrm>
            <a:off x="685800" y="1009800"/>
            <a:ext cx="695304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Una marca consistente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necesita propietarios claros.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ole-0"/>
          <p:cNvSpPr/>
          <p:nvPr/>
        </p:nvSpPr>
        <p:spPr>
          <a:xfrm>
            <a:off x="685800" y="2857680"/>
            <a:ext cx="2381040" cy="2381040"/>
          </a:xfrm>
          <a:prstGeom prst="rect">
            <a:avLst/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role-tag-0"/>
          <p:cNvSpPr/>
          <p:nvPr/>
        </p:nvSpPr>
        <p:spPr>
          <a:xfrm>
            <a:off x="914400" y="308628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DIRECCIÓN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le-name-0"/>
          <p:cNvSpPr/>
          <p:nvPr/>
        </p:nvSpPr>
        <p:spPr>
          <a:xfrm>
            <a:off x="914400" y="3638520"/>
            <a:ext cx="19047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Nombre / 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le-job-0"/>
          <p:cNvSpPr/>
          <p:nvPr/>
        </p:nvSpPr>
        <p:spPr>
          <a:xfrm>
            <a:off x="914400" y="4400640"/>
            <a:ext cx="19047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Inter"/>
                <a:ea typeface="Inter"/>
              </a:rPr>
              <a:t>Define la decisión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le-1"/>
          <p:cNvSpPr/>
          <p:nvPr/>
        </p:nvSpPr>
        <p:spPr>
          <a:xfrm>
            <a:off x="3352680" y="2857680"/>
            <a:ext cx="2381040" cy="2381040"/>
          </a:xfrm>
          <a:prstGeom prst="rect">
            <a:avLst/>
          </a:prstGeom>
          <a:solidFill>
            <a:srgbClr val="1836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role-tag-1"/>
          <p:cNvSpPr/>
          <p:nvPr/>
        </p:nvSpPr>
        <p:spPr>
          <a:xfrm>
            <a:off x="3581280" y="308628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MARCA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le-name-1"/>
          <p:cNvSpPr/>
          <p:nvPr/>
        </p:nvSpPr>
        <p:spPr>
          <a:xfrm>
            <a:off x="3581280" y="3638520"/>
            <a:ext cx="19047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Nombre / 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ole-job-1"/>
          <p:cNvSpPr/>
          <p:nvPr/>
        </p:nvSpPr>
        <p:spPr>
          <a:xfrm>
            <a:off x="3581280" y="4400640"/>
            <a:ext cx="19047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Inter"/>
                <a:ea typeface="Inter"/>
              </a:rPr>
              <a:t>Protege el sistema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ole-2"/>
          <p:cNvSpPr/>
          <p:nvPr/>
        </p:nvSpPr>
        <p:spPr>
          <a:xfrm>
            <a:off x="6019920" y="2857680"/>
            <a:ext cx="2381040" cy="2381040"/>
          </a:xfrm>
          <a:prstGeom prst="rect">
            <a:avLst/>
          </a:prstGeom>
          <a:solidFill>
            <a:srgbClr val="F3EEE6"/>
          </a:solidFill>
          <a:ln w="9525">
            <a:solidFill>
              <a:srgbClr val="D8CE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ole-tag-2"/>
          <p:cNvSpPr/>
          <p:nvPr/>
        </p:nvSpPr>
        <p:spPr>
          <a:xfrm>
            <a:off x="6248520" y="308628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EJECUCIÓN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le-name-2"/>
          <p:cNvSpPr/>
          <p:nvPr/>
        </p:nvSpPr>
        <p:spPr>
          <a:xfrm>
            <a:off x="6248520" y="3638520"/>
            <a:ext cx="19047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Nombre / 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ole-job-2"/>
          <p:cNvSpPr/>
          <p:nvPr/>
        </p:nvSpPr>
        <p:spPr>
          <a:xfrm>
            <a:off x="6248520" y="4400640"/>
            <a:ext cx="19047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Convierte en entregables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role-3"/>
          <p:cNvSpPr/>
          <p:nvPr/>
        </p:nvSpPr>
        <p:spPr>
          <a:xfrm>
            <a:off x="8686800" y="2857680"/>
            <a:ext cx="2381040" cy="2381040"/>
          </a:xfrm>
          <a:prstGeom prst="rect">
            <a:avLst/>
          </a:prstGeom>
          <a:solidFill>
            <a:srgbClr val="F3EEE6"/>
          </a:solidFill>
          <a:ln w="9525">
            <a:solidFill>
              <a:srgbClr val="D8CE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ole-tag-3"/>
          <p:cNvSpPr/>
          <p:nvPr/>
        </p:nvSpPr>
        <p:spPr>
          <a:xfrm>
            <a:off x="8915400" y="308628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MEDICIÓN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le-name-3"/>
          <p:cNvSpPr/>
          <p:nvPr/>
        </p:nvSpPr>
        <p:spPr>
          <a:xfrm>
            <a:off x="8915400" y="3638520"/>
            <a:ext cx="19047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Nombre / 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ole-job-3"/>
          <p:cNvSpPr/>
          <p:nvPr/>
        </p:nvSpPr>
        <p:spPr>
          <a:xfrm>
            <a:off x="8915400" y="4400640"/>
            <a:ext cx="19047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Documenta el aprendizaje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9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eyebrow"/>
          <p:cNvSpPr/>
          <p:nvPr/>
        </p:nvSpPr>
        <p:spPr>
          <a:xfrm>
            <a:off x="685800" y="7430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CIERRE / LLAMADO A LA ACCIÓN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itle"/>
          <p:cNvSpPr/>
          <p:nvPr/>
        </p:nvSpPr>
        <p:spPr>
          <a:xfrm>
            <a:off x="685800" y="1866960"/>
            <a:ext cx="685764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Lleva la marca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a Otro Nivel.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body"/>
          <p:cNvSpPr/>
          <p:nvPr/>
        </p:nvSpPr>
        <p:spPr>
          <a:xfrm>
            <a:off x="723960" y="3905280"/>
            <a:ext cx="61909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Inter"/>
                <a:ea typeface="Inter"/>
              </a:rPr>
              <a:t>Cierra con una decisión, una invitación o el siguiente paso concreto.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3" name=""/>
          <p:cNvPicPr/>
          <p:nvPr/>
        </p:nvPicPr>
        <p:blipFill>
          <a:blip r:embed="rId1"/>
          <a:stretch/>
        </p:blipFill>
        <p:spPr>
          <a:xfrm>
            <a:off x="8096400" y="2835360"/>
            <a:ext cx="2857320" cy="32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line"/>
          <p:cNvSpPr/>
          <p:nvPr/>
        </p:nvSpPr>
        <p:spPr>
          <a:xfrm>
            <a:off x="685800" y="5810400"/>
            <a:ext cx="10820160" cy="9000"/>
          </a:xfrm>
          <a:prstGeom prst="rect">
            <a:avLst/>
          </a:prstGeom>
          <a:solidFill>
            <a:srgbClr val="FFFFFF">
              <a:alpha val="1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url"/>
          <p:cNvSpPr/>
          <p:nvPr/>
        </p:nvSpPr>
        <p:spPr>
          <a:xfrm>
            <a:off x="685800" y="6019920"/>
            <a:ext cx="2857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roncarupano.com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6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475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A88650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706862"/>
                </a:solidFill>
                <a:effectLst/>
                <a:uFillTx/>
                <a:latin typeface="Inter"/>
                <a:ea typeface="Inter"/>
              </a:rPr>
              <a:t>25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ection"/>
          <p:cNvSpPr/>
          <p:nvPr/>
        </p:nvSpPr>
        <p:spPr>
          <a:xfrm>
            <a:off x="685800" y="1162080"/>
            <a:ext cx="1618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15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05</a:t>
            </a:r>
            <a:endParaRPr lang="en-US" sz="6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itle"/>
          <p:cNvSpPr/>
          <p:nvPr/>
        </p:nvSpPr>
        <p:spPr>
          <a:xfrm>
            <a:off x="3143160" y="1380960"/>
            <a:ext cx="74293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12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MAESTRÍA QUE</a:t>
            </a:r>
            <a:endParaRPr lang="en-US" sz="4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120" b="1" u="none" strike="noStrike">
                <a:solidFill>
                  <a:srgbClr val="100C0A"/>
                </a:solidFill>
                <a:effectLst/>
                <a:uFillTx/>
                <a:latin typeface="Adobe Garamond Pro"/>
                <a:ea typeface="Adobe Garamond Pro"/>
              </a:rPr>
              <a:t>MUEVE EL NEGOCIO.</a:t>
            </a:r>
            <a:endParaRPr lang="en-US" sz="4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copy"/>
          <p:cNvSpPr/>
          <p:nvPr/>
        </p:nvSpPr>
        <p:spPr>
          <a:xfrm>
            <a:off x="3181320" y="3333600"/>
            <a:ext cx="619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0" u="none" strike="noStrike">
                <a:solidFill>
                  <a:srgbClr val="34271F"/>
                </a:solidFill>
                <a:effectLst/>
                <a:uFillTx/>
                <a:latin typeface="Inter"/>
                <a:ea typeface="Inter"/>
              </a:rPr>
              <a:t>Abre cada capítulo con una idea breve, propia y memorable.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rule"/>
          <p:cNvSpPr/>
          <p:nvPr/>
        </p:nvSpPr>
        <p:spPr>
          <a:xfrm>
            <a:off x="3181320" y="4334040"/>
            <a:ext cx="4857480" cy="18720"/>
          </a:xfrm>
          <a:prstGeom prst="rect">
            <a:avLst/>
          </a:prstGeom>
          <a:solidFill>
            <a:srgbClr val="100C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26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eyebrow"/>
          <p:cNvSpPr/>
          <p:nvPr/>
        </p:nvSpPr>
        <p:spPr>
          <a:xfrm>
            <a:off x="685800" y="8762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CIFRA / IMPACTO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itle"/>
          <p:cNvSpPr/>
          <p:nvPr/>
        </p:nvSpPr>
        <p:spPr>
          <a:xfrm>
            <a:off x="685800" y="1676520"/>
            <a:ext cx="9810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9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100+ MEDALLAS.</a:t>
            </a:r>
            <a:endParaRPr lang="en-US" sz="4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9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SOLA FIRMA.</a:t>
            </a:r>
            <a:endParaRPr lang="en-US" sz="4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body"/>
          <p:cNvSpPr/>
          <p:nvPr/>
        </p:nvSpPr>
        <p:spPr>
          <a:xfrm>
            <a:off x="723960" y="4095720"/>
            <a:ext cx="6667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>
                    <a:alpha val="59000"/>
                  </a:srgbClr>
                </a:solidFill>
                <a:effectLst/>
                <a:uFillTx/>
                <a:latin typeface="Inter"/>
                <a:ea typeface="Inter"/>
              </a:rPr>
              <a:t>Convierte un dato en una declaración visual y acompáñalo con una sola lectura estratégica.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mark"/>
          <p:cNvSpPr/>
          <p:nvPr/>
        </p:nvSpPr>
        <p:spPr>
          <a:xfrm>
            <a:off x="8001000" y="4667400"/>
            <a:ext cx="31428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600" b="1" u="none" strike="noStrike">
                <a:solidFill>
                  <a:srgbClr val="D5B879"/>
                </a:solidFill>
                <a:effectLst/>
                <a:uFillTx/>
                <a:latin typeface="Adobe Garamond Pro"/>
                <a:ea typeface="Adobe Garamond Pro"/>
              </a:rPr>
              <a:t>100+</a:t>
            </a:r>
            <a:endParaRPr lang="en-US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0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"/>
          <p:cNvPicPr/>
          <p:nvPr/>
        </p:nvPicPr>
        <p:blipFill>
          <a:blip r:embed="rId1"/>
          <a:stretch/>
        </p:blipFill>
        <p:spPr>
          <a:xfrm>
            <a:off x="6853680" y="0"/>
            <a:ext cx="45802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scrim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00C0A">
              <a:alpha val="51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eyebrow"/>
          <p:cNvSpPr/>
          <p:nvPr/>
        </p:nvSpPr>
        <p:spPr>
          <a:xfrm>
            <a:off x="685800" y="6858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PORTAFOLIO / PROTAGONISTA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itle"/>
          <p:cNvSpPr/>
          <p:nvPr/>
        </p:nvSpPr>
        <p:spPr>
          <a:xfrm>
            <a:off x="685800" y="4000680"/>
            <a:ext cx="676224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BOTELLA.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TODA LA ATENCIÓN.</a:t>
            </a:r>
            <a:endParaRPr lang="en-U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caption"/>
          <p:cNvSpPr/>
          <p:nvPr/>
        </p:nvSpPr>
        <p:spPr>
          <a:xfrm>
            <a:off x="723960" y="567684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>
                    <a:alpha val="69000"/>
                  </a:srgbClr>
                </a:solidFill>
                <a:effectLst/>
                <a:uFillTx/>
                <a:latin typeface="Inter"/>
                <a:ea typeface="Inter"/>
              </a:rPr>
              <a:t>Usa la imagen a sangre para lanzamientos, hitos de producto y aperturas de alto impacto.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6" name=""/>
          <p:cNvPicPr/>
          <p:nvPr/>
        </p:nvPicPr>
        <p:blipFill>
          <a:blip r:embed="rId2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73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28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eyebrow"/>
          <p:cNvSpPr/>
          <p:nvPr/>
        </p:nvSpPr>
        <p:spPr>
          <a:xfrm>
            <a:off x="685800" y="8762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NEGOCIO / PULSO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itle"/>
          <p:cNvSpPr/>
          <p:nvPr/>
        </p:nvSpPr>
        <p:spPr>
          <a:xfrm>
            <a:off x="685800" y="1371600"/>
            <a:ext cx="6476760" cy="12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TRES CIFRAS.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UNA DECISIÓN.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v0"/>
          <p:cNvSpPr/>
          <p:nvPr/>
        </p:nvSpPr>
        <p:spPr>
          <a:xfrm>
            <a:off x="68580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+24%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l0"/>
          <p:cNvSpPr/>
          <p:nvPr/>
        </p:nvSpPr>
        <p:spPr>
          <a:xfrm>
            <a:off x="68580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CRECIMIENTO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r0"/>
          <p:cNvSpPr/>
          <p:nvPr/>
        </p:nvSpPr>
        <p:spPr>
          <a:xfrm>
            <a:off x="68580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v1"/>
          <p:cNvSpPr/>
          <p:nvPr/>
        </p:nvSpPr>
        <p:spPr>
          <a:xfrm>
            <a:off x="421020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18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l1"/>
          <p:cNvSpPr/>
          <p:nvPr/>
        </p:nvSpPr>
        <p:spPr>
          <a:xfrm>
            <a:off x="421020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MERCADOS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r1"/>
          <p:cNvSpPr/>
          <p:nvPr/>
        </p:nvSpPr>
        <p:spPr>
          <a:xfrm>
            <a:off x="421020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v2"/>
          <p:cNvSpPr/>
          <p:nvPr/>
        </p:nvSpPr>
        <p:spPr>
          <a:xfrm>
            <a:off x="7734240" y="3619440"/>
            <a:ext cx="2857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5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92%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l2"/>
          <p:cNvSpPr/>
          <p:nvPr/>
        </p:nvSpPr>
        <p:spPr>
          <a:xfrm>
            <a:off x="7734240" y="4667400"/>
            <a:ext cx="28573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3EEE6"/>
                </a:solidFill>
                <a:effectLst/>
                <a:uFillTx/>
                <a:latin typeface="Inter"/>
                <a:ea typeface="Inter"/>
              </a:rPr>
              <a:t>CUMPLIMIENTO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r2"/>
          <p:cNvSpPr/>
          <p:nvPr/>
        </p:nvSpPr>
        <p:spPr>
          <a:xfrm>
            <a:off x="7734240" y="5257800"/>
            <a:ext cx="2666520" cy="18720"/>
          </a:xfrm>
          <a:prstGeom prst="rect">
            <a:avLst/>
          </a:prstGeom>
          <a:solidFill>
            <a:srgbClr val="FFFFFF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0" name=""/>
          <p:cNvPicPr/>
          <p:nvPr/>
        </p:nvPicPr>
        <p:blipFill>
          <a:blip r:embed="rId1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brand"/>
          <p:cNvSpPr/>
          <p:nvPr/>
        </p:nvSpPr>
        <p:spPr>
          <a:xfrm>
            <a:off x="685800" y="26676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 CARÚPANO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age"/>
          <p:cNvSpPr/>
          <p:nvPr/>
        </p:nvSpPr>
        <p:spPr>
          <a:xfrm>
            <a:off x="11049120" y="2667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FFFFFF">
                    <a:alpha val="44000"/>
                  </a:srgbClr>
                </a:solidFill>
                <a:effectLst/>
                <a:uFillTx/>
                <a:latin typeface="Inter"/>
                <a:ea typeface="Inter"/>
              </a:rPr>
              <a:t>29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eyebrow"/>
          <p:cNvSpPr/>
          <p:nvPr/>
        </p:nvSpPr>
        <p:spPr>
          <a:xfrm>
            <a:off x="685800" y="68580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HISTORIA EN TRES ACTOS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itle"/>
          <p:cNvSpPr/>
          <p:nvPr/>
        </p:nvSpPr>
        <p:spPr>
          <a:xfrm>
            <a:off x="685800" y="1123920"/>
            <a:ext cx="590508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ORIGEN. RITUAL.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OTRO NIVEL.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"/>
          <p:cNvPicPr/>
          <p:nvPr/>
        </p:nvPicPr>
        <p:blipFill>
          <a:blip r:embed="rId1"/>
          <a:srcRect l="0" t="20116" r="0" b="20116"/>
          <a:stretch/>
        </p:blipFill>
        <p:spPr>
          <a:xfrm>
            <a:off x="685800" y="2781360"/>
            <a:ext cx="3619080" cy="323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"/>
          <p:cNvPicPr/>
          <p:nvPr/>
        </p:nvPicPr>
        <p:blipFill>
          <a:blip r:embed="rId2"/>
          <a:srcRect l="0" t="12148" r="0" b="12148"/>
          <a:stretch/>
        </p:blipFill>
        <p:spPr>
          <a:xfrm>
            <a:off x="4476600" y="2781360"/>
            <a:ext cx="2857320" cy="323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"/>
          <p:cNvPicPr/>
          <p:nvPr/>
        </p:nvPicPr>
        <p:blipFill>
          <a:blip r:embed="rId3"/>
          <a:srcRect l="0" t="10736" r="0" b="10736"/>
          <a:stretch/>
        </p:blipFill>
        <p:spPr>
          <a:xfrm>
            <a:off x="7505640" y="1428840"/>
            <a:ext cx="3904920" cy="459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caption"/>
          <p:cNvSpPr/>
          <p:nvPr/>
        </p:nvSpPr>
        <p:spPr>
          <a:xfrm>
            <a:off x="7505640" y="6153120"/>
            <a:ext cx="390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CONSTRUYE UNA SECUENCIA VISUAL, NO UNA COLECCIÓN DE FOTOS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9" name=""/>
          <p:cNvPicPr/>
          <p:nvPr/>
        </p:nvPicPr>
        <p:blipFill>
          <a:blip r:embed="rId4"/>
          <a:stretch/>
        </p:blipFill>
        <p:spPr>
          <a:xfrm>
            <a:off x="9524880" y="243000"/>
            <a:ext cx="1238040" cy="1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eyebrow"/>
          <p:cNvSpPr/>
          <p:nvPr/>
        </p:nvSpPr>
        <p:spPr>
          <a:xfrm>
            <a:off x="685800" y="743040"/>
            <a:ext cx="4000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CIERRE / FIRMA DE MARCA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itle"/>
          <p:cNvSpPr/>
          <p:nvPr/>
        </p:nvSpPr>
        <p:spPr>
          <a:xfrm>
            <a:off x="685800" y="1866960"/>
            <a:ext cx="685764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LLEVA LA MARCA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3EEE6"/>
                </a:solidFill>
                <a:effectLst/>
                <a:uFillTx/>
                <a:latin typeface="Adobe Garamond Pro"/>
                <a:ea typeface="Adobe Garamond Pro"/>
              </a:rPr>
              <a:t>A OTRO NIVEL.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body"/>
          <p:cNvSpPr/>
          <p:nvPr/>
        </p:nvSpPr>
        <p:spPr>
          <a:xfrm>
            <a:off x="723960" y="3905280"/>
            <a:ext cx="61909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Inter"/>
                <a:ea typeface="Inter"/>
              </a:rPr>
              <a:t>Cierra con una decisión clara y deja la marca ocupando el último recuerdo.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3" name=""/>
          <p:cNvPicPr/>
          <p:nvPr/>
        </p:nvPicPr>
        <p:blipFill>
          <a:blip r:embed="rId1"/>
          <a:stretch/>
        </p:blipFill>
        <p:spPr>
          <a:xfrm>
            <a:off x="8096400" y="2835360"/>
            <a:ext cx="2857320" cy="32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line"/>
          <p:cNvSpPr/>
          <p:nvPr/>
        </p:nvSpPr>
        <p:spPr>
          <a:xfrm>
            <a:off x="685800" y="5810400"/>
            <a:ext cx="10820160" cy="9000"/>
          </a:xfrm>
          <a:prstGeom prst="rect">
            <a:avLst/>
          </a:prstGeom>
          <a:solidFill>
            <a:srgbClr val="FFFFFF">
              <a:alpha val="1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url"/>
          <p:cNvSpPr/>
          <p:nvPr/>
        </p:nvSpPr>
        <p:spPr>
          <a:xfrm>
            <a:off x="685800" y="6019920"/>
            <a:ext cx="2857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5B879"/>
                </a:solidFill>
                <a:effectLst/>
                <a:uFillTx/>
                <a:latin typeface="Inter"/>
                <a:ea typeface="Inter"/>
              </a:rPr>
              <a:t>roncarupano.com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6" name=""/>
          <p:cNvPicPr/>
          <p:nvPr/>
        </p:nvPicPr>
        <p:blipFill>
          <a:blip r:embed="rId2"/>
          <a:stretch/>
        </p:blipFill>
        <p:spPr>
          <a:xfrm>
            <a:off x="685800" y="291240"/>
            <a:ext cx="2381040" cy="2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LibreOfficeDev/26.8.0.0.alpha0$MacOSX_AARCH64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2026-07-21T19:41:26Z</dcterms:created>
  <dc:creator>Walnut Exporter</dc:creator>
  <dc:description/>
  <dc:language>en-US</dc:language>
  <cp:lastModifiedBy>Walnut Exporter</cp:lastModifiedBy>
  <dcterms:modified xsi:type="dcterms:W3CDTF">2026-07-21T19:41:26Z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